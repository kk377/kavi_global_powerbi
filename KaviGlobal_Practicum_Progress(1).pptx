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4" r:id="rId10"/>
    <p:sldId id="261" r:id="rId11"/>
    <p:sldId id="265" r:id="rId12"/>
    <p:sldId id="262" r:id="rId13"/>
    <p:sldId id="263"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This slide shows the overall data sources used in our marketing intelligence pipeline.</a:t>
            </a:r>
            <a:endParaRPr lang="en-US" altLang="en-US" dirty="0"/>
          </a:p>
          <a:p>
            <a:endParaRPr lang="en-US" altLang="en-US" dirty="0"/>
          </a:p>
          <a:p>
            <a:r>
              <a:rPr lang="en-US" altLang="en-US" dirty="0"/>
              <a:t>Our system will integrate data from seven different platforms.</a:t>
            </a:r>
            <a:endParaRPr lang="en-US" altLang="en-US" dirty="0"/>
          </a:p>
          <a:p>
            <a:endParaRPr lang="en-US" altLang="en-US" dirty="0"/>
          </a:p>
          <a:p>
            <a:r>
              <a:rPr lang="en-US" altLang="en-US" dirty="0"/>
              <a:t>Currently, the YouTube and Mailchimp pipelines are fully operational. The remaining platforms are still in progress. At this stage, the company is requesting API access and platform permissions, while we continue building the extraction scripts and designing the corresponding dashboards.</a:t>
            </a:r>
            <a:endParaRPr lang="en-US" altLang="en-US" dirty="0"/>
          </a:p>
          <a:p>
            <a:endParaRPr lang="en-US" altLang="en-US" dirty="0"/>
          </a:p>
          <a:p>
            <a:r>
              <a:rPr lang="en-US" altLang="en-US" dirty="0"/>
              <a:t>Each platform provides different types of KPI measurements and marketing insights. For example, YouTube focuses on video performance metrics such as views, watch time, subscriber growth, and engagement rate, which help evaluate content effectiveness. Mailchimp, on the other hand, provides email campaign metrics such as open rate, click rate, click-to-open rate, unsubscribe rate, and subscriber growth, which help measure email marketing performance.</a:t>
            </a:r>
            <a:endParaRPr lang="en-US" altLang="en-US" dirty="0"/>
          </a:p>
          <a:p>
            <a:endParaRPr lang="en-US" altLang="en-US" dirty="0"/>
          </a:p>
          <a:p>
            <a:r>
              <a:rPr lang="en-US" altLang="en-US" dirty="0"/>
              <a:t>By integrating these data sources into a single automated pipeline, we aim to create a unified and centralized view of cross-platform marketing performance.</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This slide illustrates the technical architecture of our automated data pipeline.</a:t>
            </a:r>
            <a:endParaRPr lang="en-US" altLang="en-US" dirty="0"/>
          </a:p>
          <a:p>
            <a:endParaRPr lang="en-US" altLang="en-US" dirty="0"/>
          </a:p>
          <a:p>
            <a:r>
              <a:rPr lang="en-US" altLang="en-US" dirty="0"/>
              <a:t>Out first step is to collect data from various platform APIs.</a:t>
            </a:r>
            <a:endParaRPr lang="en-US" altLang="en-US" dirty="0"/>
          </a:p>
          <a:p>
            <a:endParaRPr lang="en-US" altLang="en-US" dirty="0"/>
          </a:p>
          <a:p>
            <a:r>
              <a:rPr lang="en-US" altLang="en-US" dirty="0"/>
              <a:t>Next, we use Python scripts to extract and process the data. The preprocessing tasks mainly include data cleaning, transformation, type enforcement, and scheduled data extraction.</a:t>
            </a:r>
            <a:endParaRPr lang="en-US" altLang="en-US" dirty="0"/>
          </a:p>
          <a:p>
            <a:endParaRPr lang="en-US" altLang="en-US" dirty="0"/>
          </a:p>
          <a:p>
            <a:r>
              <a:rPr lang="en-US" altLang="en-US" dirty="0"/>
              <a:t>The processed data is then stored in an Azure SQL database, which provides centralized storage with a relational schema and supports historical data tracking.</a:t>
            </a:r>
            <a:endParaRPr lang="en-US" altLang="en-US" dirty="0"/>
          </a:p>
          <a:p>
            <a:endParaRPr lang="en-US" altLang="en-US" dirty="0"/>
          </a:p>
          <a:p>
            <a:r>
              <a:rPr lang="en-US" altLang="en-US" dirty="0"/>
              <a:t>Finally, Power BI dashboards connect directly to the database, allowing users to explore the data through interactive filters, monitor KPIs, and analyze performance for each platform.</a:t>
            </a:r>
            <a:endParaRPr lang="en-US" altLang="en-US" dirty="0"/>
          </a:p>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This slide shows the Mailchimp email campaign analytics dashboard built in Power BI.</a:t>
            </a:r>
            <a:endParaRPr lang="en-US" altLang="en-US" dirty="0"/>
          </a:p>
          <a:p>
            <a:endParaRPr lang="en-US" altLang="en-US" dirty="0"/>
          </a:p>
          <a:p>
            <a:r>
              <a:rPr lang="en-US" altLang="en-US" dirty="0"/>
              <a:t>At the top, we display key performance indicators, including total opens, click rates, click-to-open rate, unsubscribe rate, and subscriber growth. These metrics provide a quick overview of campaign performance.</a:t>
            </a:r>
            <a:endParaRPr lang="en-US" altLang="en-US" dirty="0"/>
          </a:p>
          <a:p>
            <a:endParaRPr lang="en-US" altLang="en-US" dirty="0"/>
          </a:p>
          <a:p>
            <a:r>
              <a:rPr lang="en-US" altLang="en-US" dirty="0"/>
              <a:t>The dashboard also includes visualizations such as campaign popularity by KPIs, which helps identify the most effective campaigns based on engagement metrics.</a:t>
            </a:r>
            <a:endParaRPr lang="en-US" altLang="en-US" dirty="0"/>
          </a:p>
          <a:p>
            <a:endParaRPr lang="en-US" altLang="en-US" dirty="0"/>
          </a:p>
          <a:p>
            <a:r>
              <a:rPr lang="en-US" altLang="en-US" dirty="0"/>
              <a:t>I also visualize the email outreach funnel, showing how many users move from email delivery to opening and clicking.</a:t>
            </a:r>
            <a:endParaRPr lang="en-US" altLang="en-US" dirty="0"/>
          </a:p>
          <a:p>
            <a:endParaRPr lang="en-US" altLang="en-US" dirty="0"/>
          </a:p>
          <a:p>
            <a:r>
              <a:rPr lang="en-US" altLang="en-US" dirty="0"/>
              <a:t>Additionally, the dashboard tracks subscriber growth by campaign, allowing the marketing team to see which campaigns contribute most to audience expansion.</a:t>
            </a:r>
            <a:endParaRPr lang="en-US" altLang="en-US" dirty="0"/>
          </a:p>
          <a:p>
            <a:endParaRPr lang="en-US" altLang="en-US" dirty="0"/>
          </a:p>
          <a:p>
            <a:r>
              <a:rPr lang="en-US" altLang="en-US" dirty="0"/>
              <a:t>With interactive filters for dates, the dashboard enables marketers to quickly explore campaign performance across time and identify opportunities for optimization.</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47920"/>
          </a:solidFill>
          <a:ln w="12700">
            <a:solidFill>
              <a:srgbClr val="F47920"/>
            </a:solidFill>
            <a:prstDash val="solid"/>
          </a:ln>
        </p:spPr>
      </p:sp>
      <p:sp>
        <p:nvSpPr>
          <p:cNvPr id="3" name="Shape 1"/>
          <p:cNvSpPr/>
          <p:nvPr/>
        </p:nvSpPr>
        <p:spPr>
          <a:xfrm>
            <a:off x="0" y="5052060"/>
            <a:ext cx="9144000" cy="91440"/>
          </a:xfrm>
          <a:prstGeom prst="rect">
            <a:avLst/>
          </a:prstGeom>
          <a:solidFill>
            <a:srgbClr val="F47920"/>
          </a:solidFill>
          <a:ln w="12700">
            <a:solidFill>
              <a:srgbClr val="F47920"/>
            </a:solidFill>
            <a:prstDash val="solid"/>
          </a:ln>
        </p:spPr>
      </p:sp>
      <p:sp>
        <p:nvSpPr>
          <p:cNvPr id="4" name="Text 2"/>
          <p:cNvSpPr/>
          <p:nvPr/>
        </p:nvSpPr>
        <p:spPr>
          <a:xfrm>
            <a:off x="457200" y="256032"/>
            <a:ext cx="8229600" cy="320040"/>
          </a:xfrm>
          <a:prstGeom prst="rect">
            <a:avLst/>
          </a:prstGeom>
          <a:noFill/>
        </p:spPr>
        <p:txBody>
          <a:bodyPr wrap="square" lIns="0" tIns="0" rIns="0" bIns="0" rtlCol="0" anchor="ctr"/>
          <a:lstStyle/>
          <a:p>
            <a:pPr marL="0" indent="0" algn="ctr">
              <a:buNone/>
            </a:pPr>
            <a:r>
              <a:rPr lang="en-US" sz="1000" b="1" kern="0" spc="150" dirty="0">
                <a:solidFill>
                  <a:srgbClr val="FBA965"/>
                </a:solidFill>
                <a:latin typeface="Calibri" pitchFamily="34" charset="0"/>
                <a:ea typeface="Calibri" pitchFamily="34" charset="-122"/>
                <a:cs typeface="Calibri" pitchFamily="34" charset="-120"/>
              </a:rPr>
              <a:t>MLDS INDUSTRY PRACTICUM  ·  PROGRESS PRESENTATION</a:t>
            </a:r>
            <a:endParaRPr lang="en-US" sz="1000" dirty="0"/>
          </a:p>
        </p:txBody>
      </p:sp>
      <p:sp>
        <p:nvSpPr>
          <p:cNvPr id="5" name="Text 3"/>
          <p:cNvSpPr/>
          <p:nvPr/>
        </p:nvSpPr>
        <p:spPr>
          <a:xfrm>
            <a:off x="457200" y="685800"/>
            <a:ext cx="8229600" cy="731520"/>
          </a:xfrm>
          <a:prstGeom prst="rect">
            <a:avLst/>
          </a:prstGeom>
          <a:noFill/>
        </p:spPr>
        <p:txBody>
          <a:bodyPr wrap="square" lIns="0" tIns="0" rIns="0" bIns="0" rtlCol="0" anchor="ctr"/>
          <a:lstStyle/>
          <a:p>
            <a:pPr marL="0" indent="0" algn="ctr">
              <a:buNone/>
            </a:pPr>
            <a:r>
              <a:rPr lang="en-US" sz="52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KAVI GLOBAL</a:t>
            </a:r>
            <a:endParaRPr lang="en-US" sz="5200" dirty="0"/>
          </a:p>
        </p:txBody>
      </p:sp>
      <p:sp>
        <p:nvSpPr>
          <p:cNvPr id="6" name="Text 4"/>
          <p:cNvSpPr/>
          <p:nvPr/>
        </p:nvSpPr>
        <p:spPr>
          <a:xfrm>
            <a:off x="457200" y="1463040"/>
            <a:ext cx="8229600" cy="347472"/>
          </a:xfrm>
          <a:prstGeom prst="rect">
            <a:avLst/>
          </a:prstGeom>
          <a:noFill/>
        </p:spPr>
        <p:txBody>
          <a:bodyPr wrap="square" lIns="0" tIns="0" rIns="0" bIns="0" rtlCol="0" anchor="ctr"/>
          <a:lstStyle/>
          <a:p>
            <a:pPr marL="0" indent="0" algn="ctr">
              <a:buNone/>
            </a:pPr>
            <a:r>
              <a:rPr lang="en-US" sz="1300" i="1" dirty="0">
                <a:solidFill>
                  <a:srgbClr val="FBA965"/>
                </a:solidFill>
                <a:latin typeface="Calibri" pitchFamily="34" charset="0"/>
                <a:ea typeface="Calibri" pitchFamily="34" charset="-122"/>
                <a:cs typeface="Calibri" pitchFamily="34" charset="-120"/>
              </a:rPr>
              <a:t>intelligence delivered℠</a:t>
            </a:r>
            <a:endParaRPr lang="en-US" sz="1300" dirty="0"/>
          </a:p>
        </p:txBody>
      </p:sp>
      <p:sp>
        <p:nvSpPr>
          <p:cNvPr id="7" name="Shape 5"/>
          <p:cNvSpPr/>
          <p:nvPr/>
        </p:nvSpPr>
        <p:spPr>
          <a:xfrm>
            <a:off x="3200400" y="1938528"/>
            <a:ext cx="2743200" cy="45720"/>
          </a:xfrm>
          <a:prstGeom prst="rect">
            <a:avLst/>
          </a:prstGeom>
          <a:solidFill>
            <a:srgbClr val="F47920"/>
          </a:solidFill>
          <a:ln w="12700">
            <a:solidFill>
              <a:srgbClr val="F47920"/>
            </a:solidFill>
            <a:prstDash val="solid"/>
          </a:ln>
        </p:spPr>
      </p:sp>
      <p:sp>
        <p:nvSpPr>
          <p:cNvPr id="8" name="Text 6"/>
          <p:cNvSpPr/>
          <p:nvPr/>
        </p:nvSpPr>
        <p:spPr>
          <a:xfrm>
            <a:off x="457200" y="2057400"/>
            <a:ext cx="8229600" cy="1371600"/>
          </a:xfrm>
          <a:prstGeom prst="rect">
            <a:avLst/>
          </a:prstGeom>
          <a:noFill/>
        </p:spPr>
        <p:txBody>
          <a:bodyPr wrap="square" rtlCol="0" anchor="ctr"/>
          <a:lstStyle/>
          <a:p>
            <a:pPr marL="0" indent="0" algn="ctr">
              <a:buNone/>
            </a:pPr>
            <a:r>
              <a:rPr lang="en-US" sz="3000" dirty="0">
                <a:solidFill>
                  <a:srgbClr val="FFFFFF"/>
                </a:solidFill>
                <a:latin typeface="Calibri" pitchFamily="34" charset="0"/>
                <a:ea typeface="Calibri" pitchFamily="34" charset="-122"/>
                <a:cs typeface="Calibri" pitchFamily="34" charset="-120"/>
              </a:rPr>
              <a:t>Multi-Platform Marketing</a:t>
            </a:r>
            <a:endParaRPr lang="en-US" sz="3000" dirty="0"/>
          </a:p>
          <a:p>
            <a:pPr marL="0" indent="0" algn="ctr">
              <a:buNone/>
            </a:pPr>
            <a:r>
              <a:rPr lang="en-US" sz="3000" dirty="0">
                <a:solidFill>
                  <a:srgbClr val="FFFFFF"/>
                </a:solidFill>
                <a:latin typeface="Calibri" pitchFamily="34" charset="0"/>
                <a:ea typeface="Calibri" pitchFamily="34" charset="-122"/>
                <a:cs typeface="Calibri" pitchFamily="34" charset="-120"/>
              </a:rPr>
              <a:t>Intelligence Dashboard</a:t>
            </a:r>
            <a:endParaRPr lang="en-US" sz="3000" dirty="0"/>
          </a:p>
        </p:txBody>
      </p:sp>
      <p:sp>
        <p:nvSpPr>
          <p:cNvPr id="9" name="Shape 7"/>
          <p:cNvSpPr/>
          <p:nvPr/>
        </p:nvSpPr>
        <p:spPr>
          <a:xfrm>
            <a:off x="3200400" y="3547872"/>
            <a:ext cx="2743200" cy="45720"/>
          </a:xfrm>
          <a:prstGeom prst="rect">
            <a:avLst/>
          </a:prstGeom>
          <a:solidFill>
            <a:srgbClr val="F47920"/>
          </a:solidFill>
          <a:ln w="12700">
            <a:solidFill>
              <a:srgbClr val="F47920"/>
            </a:solidFill>
            <a:prstDash val="solid"/>
          </a:ln>
        </p:spPr>
      </p:sp>
      <p:sp>
        <p:nvSpPr>
          <p:cNvPr id="10" name="Text 8"/>
          <p:cNvSpPr/>
          <p:nvPr/>
        </p:nvSpPr>
        <p:spPr>
          <a:xfrm>
            <a:off x="457200" y="3730752"/>
            <a:ext cx="8229600" cy="320040"/>
          </a:xfrm>
          <a:prstGeom prst="rect">
            <a:avLst/>
          </a:prstGeom>
          <a:noFill/>
        </p:spPr>
        <p:txBody>
          <a:bodyPr wrap="square" rtlCol="0" anchor="ctr"/>
          <a:lstStyle/>
          <a:p>
            <a:pPr marL="0" indent="0" algn="ctr">
              <a:buNone/>
            </a:pPr>
            <a:r>
              <a:rPr lang="en-US" sz="1300" dirty="0">
                <a:solidFill>
                  <a:srgbClr val="EBF3FA"/>
                </a:solidFill>
                <a:latin typeface="Calibri" pitchFamily="34" charset="0"/>
                <a:ea typeface="Calibri" pitchFamily="34" charset="-122"/>
                <a:cs typeface="Calibri" pitchFamily="34" charset="-120"/>
              </a:rPr>
              <a:t>Leo McKenna  ·  Keming Zhang</a:t>
            </a:r>
            <a:endParaRPr lang="en-US" sz="1300" dirty="0"/>
          </a:p>
        </p:txBody>
      </p:sp>
      <p:sp>
        <p:nvSpPr>
          <p:cNvPr id="11" name="Text 9"/>
          <p:cNvSpPr/>
          <p:nvPr/>
        </p:nvSpPr>
        <p:spPr>
          <a:xfrm>
            <a:off x="457200" y="4096512"/>
            <a:ext cx="8229600" cy="274320"/>
          </a:xfrm>
          <a:prstGeom prst="rect">
            <a:avLst/>
          </a:prstGeom>
          <a:noFill/>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PROBLEM STATEMENT</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Fragmented Data, Missed Opportunities</a:t>
            </a:r>
            <a:endParaRPr lang="en-US" sz="2600" dirty="0"/>
          </a:p>
        </p:txBody>
      </p:sp>
      <p:sp>
        <p:nvSpPr>
          <p:cNvPr id="6" name="Text 4"/>
          <p:cNvSpPr/>
          <p:nvPr/>
        </p:nvSpPr>
        <p:spPr>
          <a:xfrm>
            <a:off x="320040" y="1097280"/>
            <a:ext cx="4114800" cy="365760"/>
          </a:xfrm>
          <a:prstGeom prst="rect">
            <a:avLst/>
          </a:prstGeom>
          <a:noFill/>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The Challenge</a:t>
            </a:r>
            <a:endParaRPr lang="en-US" sz="1400" dirty="0"/>
          </a:p>
        </p:txBody>
      </p:sp>
      <p:sp>
        <p:nvSpPr>
          <p:cNvPr id="7" name="Text 5"/>
          <p:cNvSpPr/>
          <p:nvPr/>
        </p:nvSpPr>
        <p:spPr>
          <a:xfrm>
            <a:off x="320040" y="1508760"/>
            <a:ext cx="4160520" cy="3291840"/>
          </a:xfrm>
          <a:prstGeom prst="rect">
            <a:avLst/>
          </a:prstGeom>
          <a:noFill/>
        </p:spPr>
        <p:txBody>
          <a:bodyPr wrap="square" rtlCol="0" anchor="t"/>
          <a:lstStyle/>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Kavi Global runs campaigns across 7+ platforms: YouTube, Mailchimp, Facebook, LinkedIn, Twitter/X, Dripify, and GA4.</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Each platform stores data in isolation — no single view of cross-channel performance.</a:t>
            </a:r>
            <a:endParaRPr lang="en-US" sz="1250" dirty="0"/>
          </a:p>
          <a:p>
            <a:pPr marL="342900" indent="-3429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Reporting requires manual exports from every platform, which is slow and error-prone.</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Without unified data, it is impossible to identify which channels are driving ROI.</a:t>
            </a:r>
            <a:endParaRPr lang="en-US" sz="1250" dirty="0"/>
          </a:p>
        </p:txBody>
      </p:sp>
      <p:sp>
        <p:nvSpPr>
          <p:cNvPr id="8" name="Shape 6"/>
          <p:cNvSpPr/>
          <p:nvPr/>
        </p:nvSpPr>
        <p:spPr>
          <a:xfrm>
            <a:off x="4663440" y="1051560"/>
            <a:ext cx="4160520" cy="3749040"/>
          </a:xfrm>
          <a:prstGeom prst="rect">
            <a:avLst/>
          </a:prstGeom>
          <a:solidFill>
            <a:srgbClr val="0D2B55"/>
          </a:solidFill>
          <a:ln w="12700">
            <a:solidFill>
              <a:srgbClr val="0D2B55"/>
            </a:solidFill>
            <a:prstDash val="solid"/>
          </a:ln>
          <a:effectLst>
            <a:outerShdw blurRad="101600" dist="25400" dir="8100000" algn="bl" rotWithShape="0">
              <a:srgbClr val="000000">
                <a:alpha val="13000"/>
              </a:srgbClr>
            </a:outerShdw>
          </a:effectLst>
        </p:spPr>
      </p:sp>
      <p:sp>
        <p:nvSpPr>
          <p:cNvPr id="9" name="Shape 7"/>
          <p:cNvSpPr/>
          <p:nvPr/>
        </p:nvSpPr>
        <p:spPr>
          <a:xfrm>
            <a:off x="4663440" y="1051560"/>
            <a:ext cx="4160520" cy="64008"/>
          </a:xfrm>
          <a:prstGeom prst="rect">
            <a:avLst/>
          </a:prstGeom>
          <a:solidFill>
            <a:srgbClr val="F47920"/>
          </a:solidFill>
          <a:ln w="12700">
            <a:solidFill>
              <a:srgbClr val="F47920"/>
            </a:solidFill>
            <a:prstDash val="solid"/>
          </a:ln>
        </p:spPr>
      </p:sp>
      <p:sp>
        <p:nvSpPr>
          <p:cNvPr id="10" name="Text 8"/>
          <p:cNvSpPr/>
          <p:nvPr/>
        </p:nvSpPr>
        <p:spPr>
          <a:xfrm>
            <a:off x="4800600" y="1188720"/>
            <a:ext cx="3840480" cy="347472"/>
          </a:xfrm>
          <a:prstGeom prst="rect">
            <a:avLst/>
          </a:prstGeom>
          <a:noFill/>
        </p:spPr>
        <p:txBody>
          <a:bodyPr wrap="square" lIns="0" tIns="0" rIns="0" bIns="0" rtlCol="0" anchor="ctr"/>
          <a:lstStyle/>
          <a:p>
            <a:pPr marL="0" indent="0">
              <a:buNone/>
            </a:pPr>
            <a:r>
              <a:rPr lang="en-US" sz="1400" b="1" dirty="0">
                <a:solidFill>
                  <a:srgbClr val="F47920"/>
                </a:solidFill>
                <a:latin typeface="Calibri" pitchFamily="34" charset="0"/>
                <a:ea typeface="Calibri" pitchFamily="34" charset="-122"/>
                <a:cs typeface="Calibri" pitchFamily="34" charset="-120"/>
              </a:rPr>
              <a:t>Our Solution</a:t>
            </a:r>
            <a:endParaRPr lang="en-US" sz="1400" dirty="0"/>
          </a:p>
        </p:txBody>
      </p:sp>
      <p:sp>
        <p:nvSpPr>
          <p:cNvPr id="11" name="Text 9"/>
          <p:cNvSpPr/>
          <p:nvPr/>
        </p:nvSpPr>
        <p:spPr>
          <a:xfrm>
            <a:off x="4800600" y="1600200"/>
            <a:ext cx="3840480" cy="2926080"/>
          </a:xfrm>
          <a:prstGeom prst="rect">
            <a:avLst/>
          </a:prstGeom>
          <a:noFill/>
        </p:spPr>
        <p:txBody>
          <a:bodyPr wrap="square"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Automated API data extraction from all 7 platforms</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Centralized storage in an Azure SQL database</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Platform-specific Power BI dashboards with live data</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Cross-channel visibility to support data-driven decisions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BUSINESS VALUE &amp; ECONOMIC IMPACT</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Why This Matters for Kavi Global</a:t>
            </a:r>
            <a:endParaRPr lang="en-US" sz="2600" dirty="0"/>
          </a:p>
        </p:txBody>
      </p:sp>
      <p:sp>
        <p:nvSpPr>
          <p:cNvPr id="6" name="Shape 4"/>
          <p:cNvSpPr/>
          <p:nvPr/>
        </p:nvSpPr>
        <p:spPr>
          <a:xfrm>
            <a:off x="292608" y="1097280"/>
            <a:ext cx="2651760" cy="352044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7" name="Shape 5"/>
          <p:cNvSpPr/>
          <p:nvPr/>
        </p:nvSpPr>
        <p:spPr>
          <a:xfrm>
            <a:off x="292608" y="1097280"/>
            <a:ext cx="2651760" cy="73152"/>
          </a:xfrm>
          <a:prstGeom prst="rect">
            <a:avLst/>
          </a:prstGeom>
          <a:solidFill>
            <a:srgbClr val="F47920"/>
          </a:solidFill>
          <a:ln w="12700">
            <a:solidFill>
              <a:srgbClr val="F47920"/>
            </a:solidFill>
            <a:prstDash val="solid"/>
          </a:ln>
        </p:spPr>
      </p:sp>
      <p:sp>
        <p:nvSpPr>
          <p:cNvPr id="8" name="Text 6"/>
          <p:cNvSpPr/>
          <p:nvPr/>
        </p:nvSpPr>
        <p:spPr>
          <a:xfrm>
            <a:off x="402336" y="1261872"/>
            <a:ext cx="457200" cy="411480"/>
          </a:xfrm>
          <a:prstGeom prst="rect">
            <a:avLst/>
          </a:prstGeom>
          <a:noFill/>
        </p:spPr>
        <p:txBody>
          <a:bodyPr wrap="square" lIns="0" tIns="0" rIns="0" bIns="0" rtlCol="0" anchor="ctr"/>
          <a:lstStyle/>
          <a:p>
            <a:pPr marL="0" indent="0">
              <a:buNone/>
            </a:pPr>
            <a:r>
              <a:rPr lang="en-US" sz="2200" dirty="0">
                <a:solidFill>
                  <a:srgbClr val="000000"/>
                </a:solidFill>
              </a:rPr>
              <a:t>⏱</a:t>
            </a:r>
            <a:endParaRPr lang="en-US" sz="2200" dirty="0"/>
          </a:p>
        </p:txBody>
      </p:sp>
      <p:sp>
        <p:nvSpPr>
          <p:cNvPr id="9" name="Text 7"/>
          <p:cNvSpPr/>
          <p:nvPr/>
        </p:nvSpPr>
        <p:spPr>
          <a:xfrm>
            <a:off x="402336" y="1737360"/>
            <a:ext cx="2423160" cy="347472"/>
          </a:xfrm>
          <a:prstGeom prst="rect">
            <a:avLst/>
          </a:prstGeom>
          <a:noFill/>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Time Savings</a:t>
            </a:r>
            <a:endParaRPr lang="en-US" sz="1300" dirty="0"/>
          </a:p>
        </p:txBody>
      </p:sp>
      <p:sp>
        <p:nvSpPr>
          <p:cNvPr id="10" name="Text 8"/>
          <p:cNvSpPr/>
          <p:nvPr/>
        </p:nvSpPr>
        <p:spPr>
          <a:xfrm>
            <a:off x="402336" y="2130552"/>
            <a:ext cx="2423160" cy="594360"/>
          </a:xfrm>
          <a:prstGeom prst="rect">
            <a:avLst/>
          </a:prstGeom>
          <a:noFill/>
        </p:spPr>
        <p:txBody>
          <a:bodyPr wrap="square" lIns="0" tIns="0" rIns="0" bIns="0" rtlCol="0" anchor="ctr"/>
          <a:lstStyle/>
          <a:p>
            <a:pPr marL="0" indent="0" algn="ctr">
              <a:buNone/>
            </a:pPr>
            <a:r>
              <a:rPr lang="en-US" sz="2200" dirty="0">
                <a:solidFill>
                  <a:srgbClr val="F47920"/>
                </a:solidFill>
                <a:latin typeface="Arial Black" panose="020B0A04020102020204" pitchFamily="34" charset="0"/>
                <a:ea typeface="Arial Black" panose="020B0A04020102020204" pitchFamily="34" charset="-122"/>
                <a:cs typeface="Arial Black" panose="020B0A04020102020204" pitchFamily="34" charset="-120"/>
              </a:rPr>
              <a:t>~15 hrs/wk</a:t>
            </a:r>
            <a:endParaRPr lang="en-US" sz="2200" dirty="0"/>
          </a:p>
        </p:txBody>
      </p:sp>
      <p:sp>
        <p:nvSpPr>
          <p:cNvPr id="11" name="Text 9"/>
          <p:cNvSpPr/>
          <p:nvPr/>
        </p:nvSpPr>
        <p:spPr>
          <a:xfrm>
            <a:off x="402336" y="2816352"/>
            <a:ext cx="2423160" cy="1645920"/>
          </a:xfrm>
          <a:prstGeom prst="rect">
            <a:avLst/>
          </a:prstGeom>
          <a:noFill/>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Eliminate manual exports across 7 platforms. Automated pipelines free analysts to act on insights rather than gather data.</a:t>
            </a:r>
            <a:endParaRPr lang="en-US" sz="1150" dirty="0"/>
          </a:p>
        </p:txBody>
      </p:sp>
      <p:sp>
        <p:nvSpPr>
          <p:cNvPr id="12" name="Shape 10"/>
          <p:cNvSpPr/>
          <p:nvPr/>
        </p:nvSpPr>
        <p:spPr>
          <a:xfrm>
            <a:off x="3182112" y="1097280"/>
            <a:ext cx="2651760" cy="352044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13" name="Shape 11"/>
          <p:cNvSpPr/>
          <p:nvPr/>
        </p:nvSpPr>
        <p:spPr>
          <a:xfrm>
            <a:off x="3182112" y="1097280"/>
            <a:ext cx="2651760" cy="73152"/>
          </a:xfrm>
          <a:prstGeom prst="rect">
            <a:avLst/>
          </a:prstGeom>
          <a:solidFill>
            <a:srgbClr val="0891B2"/>
          </a:solidFill>
          <a:ln w="12700">
            <a:solidFill>
              <a:srgbClr val="0891B2"/>
            </a:solidFill>
            <a:prstDash val="solid"/>
          </a:ln>
        </p:spPr>
      </p:sp>
      <p:sp>
        <p:nvSpPr>
          <p:cNvPr id="14" name="Text 12"/>
          <p:cNvSpPr/>
          <p:nvPr/>
        </p:nvSpPr>
        <p:spPr>
          <a:xfrm>
            <a:off x="3291840" y="1261872"/>
            <a:ext cx="457200" cy="411480"/>
          </a:xfrm>
          <a:prstGeom prst="rect">
            <a:avLst/>
          </a:prstGeom>
          <a:noFill/>
        </p:spPr>
        <p:txBody>
          <a:bodyPr wrap="square" lIns="0" tIns="0" rIns="0" bIns="0" rtlCol="0" anchor="ctr"/>
          <a:lstStyle/>
          <a:p>
            <a:pPr marL="0" indent="0">
              <a:buNone/>
            </a:pPr>
            <a:r>
              <a:rPr lang="en-US" sz="2200" dirty="0">
                <a:solidFill>
                  <a:srgbClr val="000000"/>
                </a:solidFill>
              </a:rPr>
              <a:t>📊</a:t>
            </a:r>
            <a:endParaRPr lang="en-US" sz="2200" dirty="0"/>
          </a:p>
        </p:txBody>
      </p:sp>
      <p:sp>
        <p:nvSpPr>
          <p:cNvPr id="15" name="Text 13"/>
          <p:cNvSpPr/>
          <p:nvPr/>
        </p:nvSpPr>
        <p:spPr>
          <a:xfrm>
            <a:off x="3291840" y="1737360"/>
            <a:ext cx="2423160" cy="347472"/>
          </a:xfrm>
          <a:prstGeom prst="rect">
            <a:avLst/>
          </a:prstGeom>
          <a:noFill/>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Faster Decisions</a:t>
            </a:r>
            <a:endParaRPr lang="en-US" sz="1300" dirty="0"/>
          </a:p>
        </p:txBody>
      </p:sp>
      <p:sp>
        <p:nvSpPr>
          <p:cNvPr id="16" name="Text 14"/>
          <p:cNvSpPr/>
          <p:nvPr/>
        </p:nvSpPr>
        <p:spPr>
          <a:xfrm>
            <a:off x="3291840" y="2130552"/>
            <a:ext cx="2423160" cy="594360"/>
          </a:xfrm>
          <a:prstGeom prst="rect">
            <a:avLst/>
          </a:prstGeom>
          <a:noFill/>
        </p:spPr>
        <p:txBody>
          <a:bodyPr wrap="square" lIns="0" tIns="0" rIns="0" bIns="0" rtlCol="0" anchor="ctr"/>
          <a:lstStyle/>
          <a:p>
            <a:pPr marL="0" indent="0" algn="ctr">
              <a:buNone/>
            </a:pPr>
            <a:r>
              <a:rPr lang="en-US" sz="2200" dirty="0">
                <a:solidFill>
                  <a:srgbClr val="0891B2"/>
                </a:solidFill>
                <a:latin typeface="Arial Black" panose="020B0A04020102020204" pitchFamily="34" charset="0"/>
                <a:ea typeface="Arial Black" panose="020B0A04020102020204" pitchFamily="34" charset="-122"/>
                <a:cs typeface="Arial Black" panose="020B0A04020102020204" pitchFamily="34" charset="-120"/>
              </a:rPr>
              <a:t>Real-Time</a:t>
            </a:r>
            <a:endParaRPr lang="en-US" sz="2200" dirty="0"/>
          </a:p>
        </p:txBody>
      </p:sp>
      <p:sp>
        <p:nvSpPr>
          <p:cNvPr id="17" name="Text 15"/>
          <p:cNvSpPr/>
          <p:nvPr/>
        </p:nvSpPr>
        <p:spPr>
          <a:xfrm>
            <a:off x="3291840" y="2816352"/>
            <a:ext cx="2423160" cy="1645920"/>
          </a:xfrm>
          <a:prstGeom prst="rect">
            <a:avLst/>
          </a:prstGeom>
          <a:noFill/>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Replace end-of-month static reports with live dashboards. Detect underperforming campaigns instantly and pivot.</a:t>
            </a:r>
            <a:endParaRPr lang="en-US" sz="1150" dirty="0"/>
          </a:p>
        </p:txBody>
      </p:sp>
      <p:sp>
        <p:nvSpPr>
          <p:cNvPr id="18" name="Shape 16"/>
          <p:cNvSpPr/>
          <p:nvPr/>
        </p:nvSpPr>
        <p:spPr>
          <a:xfrm>
            <a:off x="6071616" y="1097280"/>
            <a:ext cx="2651760" cy="352044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19" name="Shape 17"/>
          <p:cNvSpPr/>
          <p:nvPr/>
        </p:nvSpPr>
        <p:spPr>
          <a:xfrm>
            <a:off x="6071616" y="1097280"/>
            <a:ext cx="2651760" cy="73152"/>
          </a:xfrm>
          <a:prstGeom prst="rect">
            <a:avLst/>
          </a:prstGeom>
          <a:solidFill>
            <a:srgbClr val="7C3AED"/>
          </a:solidFill>
          <a:ln w="12700">
            <a:solidFill>
              <a:srgbClr val="7C3AED"/>
            </a:solidFill>
            <a:prstDash val="solid"/>
          </a:ln>
        </p:spPr>
      </p:sp>
      <p:sp>
        <p:nvSpPr>
          <p:cNvPr id="20" name="Text 18"/>
          <p:cNvSpPr/>
          <p:nvPr/>
        </p:nvSpPr>
        <p:spPr>
          <a:xfrm>
            <a:off x="6181344" y="1261872"/>
            <a:ext cx="457200" cy="411480"/>
          </a:xfrm>
          <a:prstGeom prst="rect">
            <a:avLst/>
          </a:prstGeom>
          <a:noFill/>
        </p:spPr>
        <p:txBody>
          <a:bodyPr wrap="square" lIns="0" tIns="0" rIns="0" bIns="0" rtlCol="0" anchor="ctr"/>
          <a:lstStyle/>
          <a:p>
            <a:pPr marL="0" indent="0">
              <a:buNone/>
            </a:pPr>
            <a:r>
              <a:rPr lang="en-US" sz="2200" dirty="0">
                <a:solidFill>
                  <a:srgbClr val="000000"/>
                </a:solidFill>
              </a:rPr>
              <a:t>💡</a:t>
            </a:r>
            <a:endParaRPr lang="en-US" sz="2200" dirty="0"/>
          </a:p>
        </p:txBody>
      </p:sp>
      <p:sp>
        <p:nvSpPr>
          <p:cNvPr id="21" name="Text 19"/>
          <p:cNvSpPr/>
          <p:nvPr/>
        </p:nvSpPr>
        <p:spPr>
          <a:xfrm>
            <a:off x="6181344" y="1737360"/>
            <a:ext cx="2423160" cy="347472"/>
          </a:xfrm>
          <a:prstGeom prst="rect">
            <a:avLst/>
          </a:prstGeom>
          <a:noFill/>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Campaign ROI</a:t>
            </a:r>
            <a:endParaRPr lang="en-US" sz="1300" dirty="0"/>
          </a:p>
        </p:txBody>
      </p:sp>
      <p:sp>
        <p:nvSpPr>
          <p:cNvPr id="22" name="Text 20"/>
          <p:cNvSpPr/>
          <p:nvPr/>
        </p:nvSpPr>
        <p:spPr>
          <a:xfrm>
            <a:off x="6181344" y="2130552"/>
            <a:ext cx="2423160" cy="594360"/>
          </a:xfrm>
          <a:prstGeom prst="rect">
            <a:avLst/>
          </a:prstGeom>
          <a:noFill/>
        </p:spPr>
        <p:txBody>
          <a:bodyPr wrap="square" lIns="0" tIns="0" rIns="0" bIns="0" rtlCol="0" anchor="ctr"/>
          <a:lstStyle/>
          <a:p>
            <a:pPr marL="0" indent="0" algn="ctr">
              <a:buNone/>
            </a:pPr>
            <a:r>
              <a:rPr lang="en-US" sz="2200" dirty="0">
                <a:solidFill>
                  <a:srgbClr val="7C3AED"/>
                </a:solidFill>
                <a:latin typeface="Arial Black" panose="020B0A04020102020204" pitchFamily="34" charset="0"/>
                <a:ea typeface="Arial Black" panose="020B0A04020102020204" pitchFamily="34" charset="-122"/>
                <a:cs typeface="Arial Black" panose="020B0A04020102020204" pitchFamily="34" charset="-120"/>
              </a:rPr>
              <a:t>Unified View</a:t>
            </a:r>
            <a:endParaRPr lang="en-US" sz="2200" dirty="0"/>
          </a:p>
        </p:txBody>
      </p:sp>
      <p:sp>
        <p:nvSpPr>
          <p:cNvPr id="23" name="Text 21"/>
          <p:cNvSpPr/>
          <p:nvPr/>
        </p:nvSpPr>
        <p:spPr>
          <a:xfrm>
            <a:off x="6181344" y="2816352"/>
            <a:ext cx="2423160" cy="1645920"/>
          </a:xfrm>
          <a:prstGeom prst="rect">
            <a:avLst/>
          </a:prstGeom>
          <a:noFill/>
        </p:spPr>
        <p:txBody>
          <a:bodyPr wrap="square" lIns="0" tIns="0" rIns="0" bIns="0" rtlCol="0" anchor="t"/>
          <a:lstStyle/>
          <a:p>
            <a:pPr marL="0" indent="0">
              <a:buNone/>
            </a:pPr>
            <a:r>
              <a:rPr lang="en-US" sz="1150" dirty="0">
                <a:solidFill>
                  <a:srgbClr val="64748B"/>
                </a:solidFill>
                <a:latin typeface="Calibri" pitchFamily="34" charset="0"/>
                <a:ea typeface="Calibri" pitchFamily="34" charset="-122"/>
                <a:cs typeface="Calibri" pitchFamily="34" charset="-120"/>
              </a:rPr>
              <a:t>Attribute performance across all channels. Identify top-converting content types and the platforms delivering most value.</a:t>
            </a:r>
            <a:endParaRPr lang="en-US" sz="1150" dirty="0"/>
          </a:p>
        </p:txBody>
      </p:sp>
      <p:sp>
        <p:nvSpPr>
          <p:cNvPr id="24" name="Shape 22"/>
          <p:cNvSpPr/>
          <p:nvPr/>
        </p:nvSpPr>
        <p:spPr>
          <a:xfrm>
            <a:off x="0" y="4672584"/>
            <a:ext cx="9144000" cy="470916"/>
          </a:xfrm>
          <a:prstGeom prst="rect">
            <a:avLst/>
          </a:prstGeom>
          <a:solidFill>
            <a:srgbClr val="0D2B55"/>
          </a:solidFill>
          <a:ln w="12700">
            <a:solidFill>
              <a:srgbClr val="0D2B55"/>
            </a:solidFill>
            <a:prstDash val="solid"/>
          </a:ln>
        </p:spPr>
      </p:sp>
      <p:sp>
        <p:nvSpPr>
          <p:cNvPr id="25" name="Text 23"/>
          <p:cNvSpPr/>
          <p:nvPr/>
        </p:nvSpPr>
        <p:spPr>
          <a:xfrm>
            <a:off x="457200" y="4700016"/>
            <a:ext cx="8229600" cy="411480"/>
          </a:xfrm>
          <a:prstGeom prst="rect">
            <a:avLst/>
          </a:prstGeom>
          <a:noFill/>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 data sources  ·  1 automated pipeline  ·  Always-on intelligence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DATA OVERVIEW</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7 Platforms, 1 Pipeline</a:t>
            </a:r>
            <a:endParaRPr lang="en-US" sz="2600" dirty="0"/>
          </a:p>
        </p:txBody>
      </p:sp>
      <p:sp>
        <p:nvSpPr>
          <p:cNvPr id="6" name="Shape 4"/>
          <p:cNvSpPr/>
          <p:nvPr/>
        </p:nvSpPr>
        <p:spPr>
          <a:xfrm>
            <a:off x="320040" y="1005840"/>
            <a:ext cx="164592" cy="164592"/>
          </a:xfrm>
          <a:prstGeom prst="rect">
            <a:avLst/>
          </a:prstGeom>
          <a:solidFill>
            <a:srgbClr val="16A34A"/>
          </a:solidFill>
          <a:ln w="12700">
            <a:solidFill>
              <a:srgbClr val="16A34A"/>
            </a:solidFill>
            <a:prstDash val="solid"/>
          </a:ln>
        </p:spPr>
      </p:sp>
      <p:sp>
        <p:nvSpPr>
          <p:cNvPr id="7" name="Text 5"/>
          <p:cNvSpPr/>
          <p:nvPr/>
        </p:nvSpPr>
        <p:spPr>
          <a:xfrm>
            <a:off x="530352" y="978408"/>
            <a:ext cx="1280160" cy="228600"/>
          </a:xfrm>
          <a:prstGeom prst="rect">
            <a:avLst/>
          </a:prstGeom>
          <a:noFill/>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Dashboard Live</a:t>
            </a:r>
            <a:endParaRPr lang="en-US" sz="1000" dirty="0"/>
          </a:p>
        </p:txBody>
      </p:sp>
      <p:sp>
        <p:nvSpPr>
          <p:cNvPr id="8" name="Shape 6"/>
          <p:cNvSpPr/>
          <p:nvPr/>
        </p:nvSpPr>
        <p:spPr>
          <a:xfrm>
            <a:off x="2011680" y="1005840"/>
            <a:ext cx="164592" cy="164592"/>
          </a:xfrm>
          <a:prstGeom prst="rect">
            <a:avLst/>
          </a:prstGeom>
          <a:solidFill>
            <a:srgbClr val="F47920"/>
          </a:solidFill>
          <a:ln w="12700">
            <a:solidFill>
              <a:srgbClr val="F47920"/>
            </a:solidFill>
            <a:prstDash val="solid"/>
          </a:ln>
        </p:spPr>
      </p:sp>
      <p:sp>
        <p:nvSpPr>
          <p:cNvPr id="9" name="Text 7"/>
          <p:cNvSpPr/>
          <p:nvPr/>
        </p:nvSpPr>
        <p:spPr>
          <a:xfrm>
            <a:off x="2221992" y="978408"/>
            <a:ext cx="1097280" cy="228600"/>
          </a:xfrm>
          <a:prstGeom prst="rect">
            <a:avLst/>
          </a:prstGeom>
          <a:noFill/>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In Progress</a:t>
            </a:r>
            <a:endParaRPr lang="en-US" sz="1000" dirty="0"/>
          </a:p>
        </p:txBody>
      </p:sp>
      <p:sp>
        <p:nvSpPr>
          <p:cNvPr id="10" name="Shape 8"/>
          <p:cNvSpPr/>
          <p:nvPr/>
        </p:nvSpPr>
        <p:spPr>
          <a:xfrm>
            <a:off x="388620" y="1261872"/>
            <a:ext cx="1920240" cy="1554480"/>
          </a:xfrm>
          <a:prstGeom prst="rect">
            <a:avLst/>
          </a:prstGeom>
          <a:solidFill>
            <a:srgbClr val="FFFFFF"/>
          </a:solidFill>
          <a:ln w="12700">
            <a:solidFill>
              <a:srgbClr val="16A34A"/>
            </a:solidFill>
            <a:prstDash val="solid"/>
          </a:ln>
          <a:effectLst>
            <a:outerShdw blurRad="101600" dist="25400" dir="8100000" algn="bl" rotWithShape="0">
              <a:srgbClr val="000000">
                <a:alpha val="13000"/>
              </a:srgbClr>
            </a:outerShdw>
          </a:effectLst>
        </p:spPr>
      </p:sp>
      <p:sp>
        <p:nvSpPr>
          <p:cNvPr id="11" name="Shape 9"/>
          <p:cNvSpPr/>
          <p:nvPr/>
        </p:nvSpPr>
        <p:spPr>
          <a:xfrm>
            <a:off x="388620" y="1261872"/>
            <a:ext cx="1920240" cy="64008"/>
          </a:xfrm>
          <a:prstGeom prst="rect">
            <a:avLst/>
          </a:prstGeom>
          <a:solidFill>
            <a:srgbClr val="16A34A"/>
          </a:solidFill>
          <a:ln w="12700">
            <a:solidFill>
              <a:srgbClr val="16A34A"/>
            </a:solidFill>
            <a:prstDash val="solid"/>
          </a:ln>
        </p:spPr>
      </p:sp>
      <p:sp>
        <p:nvSpPr>
          <p:cNvPr id="12" name="Text 10"/>
          <p:cNvSpPr/>
          <p:nvPr/>
        </p:nvSpPr>
        <p:spPr>
          <a:xfrm>
            <a:off x="498348" y="1380744"/>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YouTube</a:t>
            </a:r>
            <a:endParaRPr lang="en-US" sz="1200" dirty="0"/>
          </a:p>
        </p:txBody>
      </p:sp>
      <p:sp>
        <p:nvSpPr>
          <p:cNvPr id="13" name="Text 11"/>
          <p:cNvSpPr/>
          <p:nvPr/>
        </p:nvSpPr>
        <p:spPr>
          <a:xfrm>
            <a:off x="498348" y="1719072"/>
            <a:ext cx="1700784" cy="256032"/>
          </a:xfrm>
          <a:prstGeom prst="rect">
            <a:avLst/>
          </a:prstGeom>
          <a:noFill/>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  Live</a:t>
            </a:r>
            <a:endParaRPr lang="en-US" sz="1000" dirty="0"/>
          </a:p>
        </p:txBody>
      </p:sp>
      <p:sp>
        <p:nvSpPr>
          <p:cNvPr id="14" name="Text 12"/>
          <p:cNvSpPr/>
          <p:nvPr/>
        </p:nvSpPr>
        <p:spPr>
          <a:xfrm>
            <a:off x="498348" y="2011680"/>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Views · Watch time</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Subscribers · Engagement rate</a:t>
            </a:r>
            <a:endParaRPr lang="en-US" sz="950" dirty="0"/>
          </a:p>
        </p:txBody>
      </p:sp>
      <p:sp>
        <p:nvSpPr>
          <p:cNvPr id="15" name="Shape 13"/>
          <p:cNvSpPr/>
          <p:nvPr/>
        </p:nvSpPr>
        <p:spPr>
          <a:xfrm>
            <a:off x="2537460" y="1261872"/>
            <a:ext cx="1920240" cy="1554480"/>
          </a:xfrm>
          <a:prstGeom prst="rect">
            <a:avLst/>
          </a:prstGeom>
          <a:solidFill>
            <a:srgbClr val="FFFFFF"/>
          </a:solidFill>
          <a:ln w="12700">
            <a:solidFill>
              <a:srgbClr val="16A34A"/>
            </a:solidFill>
            <a:prstDash val="solid"/>
          </a:ln>
          <a:effectLst>
            <a:outerShdw blurRad="101600" dist="25400" dir="8100000" algn="bl" rotWithShape="0">
              <a:srgbClr val="000000">
                <a:alpha val="13000"/>
              </a:srgbClr>
            </a:outerShdw>
          </a:effectLst>
        </p:spPr>
      </p:sp>
      <p:sp>
        <p:nvSpPr>
          <p:cNvPr id="16" name="Shape 14"/>
          <p:cNvSpPr/>
          <p:nvPr/>
        </p:nvSpPr>
        <p:spPr>
          <a:xfrm>
            <a:off x="2537460" y="1261872"/>
            <a:ext cx="1920240" cy="64008"/>
          </a:xfrm>
          <a:prstGeom prst="rect">
            <a:avLst/>
          </a:prstGeom>
          <a:solidFill>
            <a:srgbClr val="16A34A"/>
          </a:solidFill>
          <a:ln w="12700">
            <a:solidFill>
              <a:srgbClr val="16A34A"/>
            </a:solidFill>
            <a:prstDash val="solid"/>
          </a:ln>
        </p:spPr>
      </p:sp>
      <p:sp>
        <p:nvSpPr>
          <p:cNvPr id="17" name="Text 15"/>
          <p:cNvSpPr/>
          <p:nvPr/>
        </p:nvSpPr>
        <p:spPr>
          <a:xfrm>
            <a:off x="2647188" y="1380744"/>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Mailchimp</a:t>
            </a:r>
            <a:endParaRPr lang="en-US" sz="1200" dirty="0"/>
          </a:p>
        </p:txBody>
      </p:sp>
      <p:sp>
        <p:nvSpPr>
          <p:cNvPr id="18" name="Text 16"/>
          <p:cNvSpPr/>
          <p:nvPr/>
        </p:nvSpPr>
        <p:spPr>
          <a:xfrm>
            <a:off x="2647188" y="1719072"/>
            <a:ext cx="1700784" cy="256032"/>
          </a:xfrm>
          <a:prstGeom prst="rect">
            <a:avLst/>
          </a:prstGeom>
          <a:noFill/>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  Live</a:t>
            </a:r>
            <a:endParaRPr lang="en-US" sz="1000" dirty="0"/>
          </a:p>
        </p:txBody>
      </p:sp>
      <p:sp>
        <p:nvSpPr>
          <p:cNvPr id="19" name="Text 17"/>
          <p:cNvSpPr/>
          <p:nvPr/>
        </p:nvSpPr>
        <p:spPr>
          <a:xfrm>
            <a:off x="2647188" y="2011680"/>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Open/click rates</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Campaigns · Subscriber growth</a:t>
            </a:r>
            <a:endParaRPr lang="en-US" sz="950" dirty="0"/>
          </a:p>
        </p:txBody>
      </p:sp>
      <p:sp>
        <p:nvSpPr>
          <p:cNvPr id="20" name="Shape 18"/>
          <p:cNvSpPr/>
          <p:nvPr/>
        </p:nvSpPr>
        <p:spPr>
          <a:xfrm>
            <a:off x="4686300" y="1261872"/>
            <a:ext cx="1920240" cy="155448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21" name="Shape 19"/>
          <p:cNvSpPr/>
          <p:nvPr/>
        </p:nvSpPr>
        <p:spPr>
          <a:xfrm>
            <a:off x="4686300" y="1261872"/>
            <a:ext cx="1920240" cy="64008"/>
          </a:xfrm>
          <a:prstGeom prst="rect">
            <a:avLst/>
          </a:prstGeom>
          <a:solidFill>
            <a:srgbClr val="F47920"/>
          </a:solidFill>
          <a:ln w="12700">
            <a:solidFill>
              <a:srgbClr val="F47920"/>
            </a:solidFill>
            <a:prstDash val="solid"/>
          </a:ln>
        </p:spPr>
      </p:sp>
      <p:sp>
        <p:nvSpPr>
          <p:cNvPr id="22" name="Text 20"/>
          <p:cNvSpPr/>
          <p:nvPr/>
        </p:nvSpPr>
        <p:spPr>
          <a:xfrm>
            <a:off x="4796028" y="1380744"/>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Facebook</a:t>
            </a:r>
            <a:endParaRPr lang="en-US" sz="1200" dirty="0"/>
          </a:p>
        </p:txBody>
      </p:sp>
      <p:sp>
        <p:nvSpPr>
          <p:cNvPr id="23" name="Text 21"/>
          <p:cNvSpPr/>
          <p:nvPr/>
        </p:nvSpPr>
        <p:spPr>
          <a:xfrm>
            <a:off x="4796028" y="1719072"/>
            <a:ext cx="1700784" cy="256032"/>
          </a:xfrm>
          <a:prstGeom prst="rect">
            <a:avLst/>
          </a:prstGeom>
          <a:noFill/>
        </p:spPr>
        <p:txBody>
          <a:bodyPr wrap="square" lIns="0" tIns="0" rIns="0" bIns="0" rtlCol="0" anchor="ctr"/>
          <a:lstStyle/>
          <a:p>
            <a:pPr marL="0" indent="0">
              <a:buNone/>
            </a:pPr>
            <a:r>
              <a:rPr lang="en-US" sz="1000" b="1" dirty="0">
                <a:solidFill>
                  <a:srgbClr val="F47920"/>
                </a:solidFill>
                <a:latin typeface="Calibri" pitchFamily="34" charset="0"/>
                <a:ea typeface="Calibri" pitchFamily="34" charset="-122"/>
                <a:cs typeface="Calibri" pitchFamily="34" charset="-120"/>
              </a:rPr>
              <a:t>⏳  In Progress</a:t>
            </a:r>
            <a:endParaRPr lang="en-US" sz="1000" dirty="0"/>
          </a:p>
        </p:txBody>
      </p:sp>
      <p:sp>
        <p:nvSpPr>
          <p:cNvPr id="24" name="Text 22"/>
          <p:cNvSpPr/>
          <p:nvPr/>
        </p:nvSpPr>
        <p:spPr>
          <a:xfrm>
            <a:off x="4796028" y="2011680"/>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Reach · Post engagement</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Ad performance metrics</a:t>
            </a:r>
            <a:endParaRPr lang="en-US" sz="950" dirty="0"/>
          </a:p>
        </p:txBody>
      </p:sp>
      <p:sp>
        <p:nvSpPr>
          <p:cNvPr id="25" name="Shape 23"/>
          <p:cNvSpPr/>
          <p:nvPr/>
        </p:nvSpPr>
        <p:spPr>
          <a:xfrm>
            <a:off x="6835140" y="1261872"/>
            <a:ext cx="1920240" cy="155448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26" name="Shape 24"/>
          <p:cNvSpPr/>
          <p:nvPr/>
        </p:nvSpPr>
        <p:spPr>
          <a:xfrm>
            <a:off x="6835140" y="1261872"/>
            <a:ext cx="1920240" cy="64008"/>
          </a:xfrm>
          <a:prstGeom prst="rect">
            <a:avLst/>
          </a:prstGeom>
          <a:solidFill>
            <a:srgbClr val="F47920"/>
          </a:solidFill>
          <a:ln w="12700">
            <a:solidFill>
              <a:srgbClr val="F47920"/>
            </a:solidFill>
            <a:prstDash val="solid"/>
          </a:ln>
        </p:spPr>
      </p:sp>
      <p:sp>
        <p:nvSpPr>
          <p:cNvPr id="27" name="Text 25"/>
          <p:cNvSpPr/>
          <p:nvPr/>
        </p:nvSpPr>
        <p:spPr>
          <a:xfrm>
            <a:off x="6944868" y="1380744"/>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LinkedIn</a:t>
            </a:r>
            <a:endParaRPr lang="en-US" sz="1200" dirty="0"/>
          </a:p>
        </p:txBody>
      </p:sp>
      <p:sp>
        <p:nvSpPr>
          <p:cNvPr id="28" name="Text 26"/>
          <p:cNvSpPr/>
          <p:nvPr/>
        </p:nvSpPr>
        <p:spPr>
          <a:xfrm>
            <a:off x="6944868" y="1719072"/>
            <a:ext cx="1700784" cy="256032"/>
          </a:xfrm>
          <a:prstGeom prst="rect">
            <a:avLst/>
          </a:prstGeom>
          <a:noFill/>
        </p:spPr>
        <p:txBody>
          <a:bodyPr wrap="square" lIns="0" tIns="0" rIns="0" bIns="0" rtlCol="0" anchor="ctr"/>
          <a:lstStyle/>
          <a:p>
            <a:pPr marL="0" indent="0">
              <a:buNone/>
            </a:pPr>
            <a:r>
              <a:rPr lang="en-US" sz="1000" b="1" dirty="0">
                <a:solidFill>
                  <a:srgbClr val="F47920"/>
                </a:solidFill>
                <a:latin typeface="Calibri" pitchFamily="34" charset="0"/>
                <a:ea typeface="Calibri" pitchFamily="34" charset="-122"/>
                <a:cs typeface="Calibri" pitchFamily="34" charset="-120"/>
              </a:rPr>
              <a:t>⏳  In Progress</a:t>
            </a:r>
            <a:endParaRPr lang="en-US" sz="1000" dirty="0"/>
          </a:p>
        </p:txBody>
      </p:sp>
      <p:sp>
        <p:nvSpPr>
          <p:cNvPr id="29" name="Text 27"/>
          <p:cNvSpPr/>
          <p:nvPr/>
        </p:nvSpPr>
        <p:spPr>
          <a:xfrm>
            <a:off x="6944868" y="2011680"/>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Impressions · Followers</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Content analytics</a:t>
            </a:r>
            <a:endParaRPr lang="en-US" sz="950" dirty="0"/>
          </a:p>
        </p:txBody>
      </p:sp>
      <p:sp>
        <p:nvSpPr>
          <p:cNvPr id="30" name="Shape 28"/>
          <p:cNvSpPr/>
          <p:nvPr/>
        </p:nvSpPr>
        <p:spPr>
          <a:xfrm>
            <a:off x="1463040" y="2944368"/>
            <a:ext cx="1920240" cy="155448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31" name="Shape 29"/>
          <p:cNvSpPr/>
          <p:nvPr/>
        </p:nvSpPr>
        <p:spPr>
          <a:xfrm>
            <a:off x="1463040" y="2944368"/>
            <a:ext cx="1920240" cy="64008"/>
          </a:xfrm>
          <a:prstGeom prst="rect">
            <a:avLst/>
          </a:prstGeom>
          <a:solidFill>
            <a:srgbClr val="F47920"/>
          </a:solidFill>
          <a:ln w="12700">
            <a:solidFill>
              <a:srgbClr val="F47920"/>
            </a:solidFill>
            <a:prstDash val="solid"/>
          </a:ln>
        </p:spPr>
      </p:sp>
      <p:sp>
        <p:nvSpPr>
          <p:cNvPr id="32" name="Text 30"/>
          <p:cNvSpPr/>
          <p:nvPr/>
        </p:nvSpPr>
        <p:spPr>
          <a:xfrm>
            <a:off x="1572768" y="3063240"/>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Twitter / X</a:t>
            </a:r>
            <a:endParaRPr lang="en-US" sz="1200" dirty="0"/>
          </a:p>
        </p:txBody>
      </p:sp>
      <p:sp>
        <p:nvSpPr>
          <p:cNvPr id="33" name="Text 31"/>
          <p:cNvSpPr/>
          <p:nvPr/>
        </p:nvSpPr>
        <p:spPr>
          <a:xfrm>
            <a:off x="1572768" y="3401568"/>
            <a:ext cx="1700784" cy="256032"/>
          </a:xfrm>
          <a:prstGeom prst="rect">
            <a:avLst/>
          </a:prstGeom>
          <a:noFill/>
        </p:spPr>
        <p:txBody>
          <a:bodyPr wrap="square" lIns="0" tIns="0" rIns="0" bIns="0" rtlCol="0" anchor="ctr"/>
          <a:lstStyle/>
          <a:p>
            <a:pPr marL="0" indent="0">
              <a:buNone/>
            </a:pPr>
            <a:r>
              <a:rPr lang="en-US" sz="1000" b="1" dirty="0">
                <a:solidFill>
                  <a:srgbClr val="F47920"/>
                </a:solidFill>
                <a:latin typeface="Calibri" pitchFamily="34" charset="0"/>
                <a:ea typeface="Calibri" pitchFamily="34" charset="-122"/>
                <a:cs typeface="Calibri" pitchFamily="34" charset="-120"/>
              </a:rPr>
              <a:t>⏳  In Progress</a:t>
            </a:r>
            <a:endParaRPr lang="en-US" sz="1000" dirty="0"/>
          </a:p>
        </p:txBody>
      </p:sp>
      <p:sp>
        <p:nvSpPr>
          <p:cNvPr id="34" name="Text 32"/>
          <p:cNvSpPr/>
          <p:nvPr/>
        </p:nvSpPr>
        <p:spPr>
          <a:xfrm>
            <a:off x="1572768" y="3694176"/>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Impressions · Reach</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Profile visits &amp; engagement</a:t>
            </a:r>
            <a:endParaRPr lang="en-US" sz="950" dirty="0"/>
          </a:p>
        </p:txBody>
      </p:sp>
      <p:sp>
        <p:nvSpPr>
          <p:cNvPr id="35" name="Shape 33"/>
          <p:cNvSpPr/>
          <p:nvPr/>
        </p:nvSpPr>
        <p:spPr>
          <a:xfrm>
            <a:off x="3611880" y="2944368"/>
            <a:ext cx="1920240" cy="155448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36" name="Shape 34"/>
          <p:cNvSpPr/>
          <p:nvPr/>
        </p:nvSpPr>
        <p:spPr>
          <a:xfrm>
            <a:off x="3611880" y="2944368"/>
            <a:ext cx="1920240" cy="64008"/>
          </a:xfrm>
          <a:prstGeom prst="rect">
            <a:avLst/>
          </a:prstGeom>
          <a:solidFill>
            <a:srgbClr val="F47920"/>
          </a:solidFill>
          <a:ln w="12700">
            <a:solidFill>
              <a:srgbClr val="F47920"/>
            </a:solidFill>
            <a:prstDash val="solid"/>
          </a:ln>
        </p:spPr>
      </p:sp>
      <p:sp>
        <p:nvSpPr>
          <p:cNvPr id="37" name="Text 35"/>
          <p:cNvSpPr/>
          <p:nvPr/>
        </p:nvSpPr>
        <p:spPr>
          <a:xfrm>
            <a:off x="3721608" y="3063240"/>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Dripify</a:t>
            </a:r>
            <a:endParaRPr lang="en-US" sz="1200" dirty="0"/>
          </a:p>
        </p:txBody>
      </p:sp>
      <p:sp>
        <p:nvSpPr>
          <p:cNvPr id="38" name="Text 36"/>
          <p:cNvSpPr/>
          <p:nvPr/>
        </p:nvSpPr>
        <p:spPr>
          <a:xfrm>
            <a:off x="3721608" y="3401568"/>
            <a:ext cx="1700784" cy="256032"/>
          </a:xfrm>
          <a:prstGeom prst="rect">
            <a:avLst/>
          </a:prstGeom>
          <a:noFill/>
        </p:spPr>
        <p:txBody>
          <a:bodyPr wrap="square" lIns="0" tIns="0" rIns="0" bIns="0" rtlCol="0" anchor="ctr"/>
          <a:lstStyle/>
          <a:p>
            <a:pPr marL="0" indent="0">
              <a:buNone/>
            </a:pPr>
            <a:r>
              <a:rPr lang="en-US" sz="1000" b="1" dirty="0">
                <a:solidFill>
                  <a:srgbClr val="F47920"/>
                </a:solidFill>
                <a:latin typeface="Calibri" pitchFamily="34" charset="0"/>
                <a:ea typeface="Calibri" pitchFamily="34" charset="-122"/>
                <a:cs typeface="Calibri" pitchFamily="34" charset="-120"/>
              </a:rPr>
              <a:t>⏳  In Progress</a:t>
            </a:r>
            <a:endParaRPr lang="en-US" sz="1000" dirty="0"/>
          </a:p>
        </p:txBody>
      </p:sp>
      <p:sp>
        <p:nvSpPr>
          <p:cNvPr id="39" name="Text 37"/>
          <p:cNvSpPr/>
          <p:nvPr/>
        </p:nvSpPr>
        <p:spPr>
          <a:xfrm>
            <a:off x="3721608" y="3694176"/>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LinkedIn automation</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Connection &amp; reply rates</a:t>
            </a:r>
            <a:endParaRPr lang="en-US" sz="950" dirty="0"/>
          </a:p>
        </p:txBody>
      </p:sp>
      <p:sp>
        <p:nvSpPr>
          <p:cNvPr id="40" name="Shape 38"/>
          <p:cNvSpPr/>
          <p:nvPr/>
        </p:nvSpPr>
        <p:spPr>
          <a:xfrm>
            <a:off x="5760720" y="2944368"/>
            <a:ext cx="1920240" cy="1554480"/>
          </a:xfrm>
          <a:prstGeom prst="rect">
            <a:avLst/>
          </a:prstGeom>
          <a:solidFill>
            <a:srgbClr val="FFFFFF"/>
          </a:solidFill>
          <a:ln w="12700">
            <a:solidFill>
              <a:srgbClr val="D6E8F5"/>
            </a:solidFill>
            <a:prstDash val="solid"/>
          </a:ln>
          <a:effectLst>
            <a:outerShdw blurRad="101600" dist="25400" dir="8100000" algn="bl" rotWithShape="0">
              <a:srgbClr val="000000">
                <a:alpha val="13000"/>
              </a:srgbClr>
            </a:outerShdw>
          </a:effectLst>
        </p:spPr>
      </p:sp>
      <p:sp>
        <p:nvSpPr>
          <p:cNvPr id="41" name="Shape 39"/>
          <p:cNvSpPr/>
          <p:nvPr/>
        </p:nvSpPr>
        <p:spPr>
          <a:xfrm>
            <a:off x="5760720" y="2944368"/>
            <a:ext cx="1920240" cy="64008"/>
          </a:xfrm>
          <a:prstGeom prst="rect">
            <a:avLst/>
          </a:prstGeom>
          <a:solidFill>
            <a:srgbClr val="F47920"/>
          </a:solidFill>
          <a:ln w="12700">
            <a:solidFill>
              <a:srgbClr val="F47920"/>
            </a:solidFill>
            <a:prstDash val="solid"/>
          </a:ln>
        </p:spPr>
      </p:sp>
      <p:sp>
        <p:nvSpPr>
          <p:cNvPr id="42" name="Text 40"/>
          <p:cNvSpPr/>
          <p:nvPr/>
        </p:nvSpPr>
        <p:spPr>
          <a:xfrm>
            <a:off x="5870448" y="3063240"/>
            <a:ext cx="1700784" cy="320040"/>
          </a:xfrm>
          <a:prstGeom prst="rect">
            <a:avLst/>
          </a:prstGeom>
          <a:noFill/>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Google Analytics 4</a:t>
            </a:r>
            <a:endParaRPr lang="en-US" sz="1200" dirty="0"/>
          </a:p>
        </p:txBody>
      </p:sp>
      <p:sp>
        <p:nvSpPr>
          <p:cNvPr id="43" name="Text 41"/>
          <p:cNvSpPr/>
          <p:nvPr/>
        </p:nvSpPr>
        <p:spPr>
          <a:xfrm>
            <a:off x="5870448" y="3401568"/>
            <a:ext cx="1700784" cy="256032"/>
          </a:xfrm>
          <a:prstGeom prst="rect">
            <a:avLst/>
          </a:prstGeom>
          <a:noFill/>
        </p:spPr>
        <p:txBody>
          <a:bodyPr wrap="square" lIns="0" tIns="0" rIns="0" bIns="0" rtlCol="0" anchor="ctr"/>
          <a:lstStyle/>
          <a:p>
            <a:pPr marL="0" indent="0">
              <a:buNone/>
            </a:pPr>
            <a:r>
              <a:rPr lang="en-US" sz="1000" b="1" dirty="0">
                <a:solidFill>
                  <a:srgbClr val="F47920"/>
                </a:solidFill>
                <a:latin typeface="Calibri" pitchFamily="34" charset="0"/>
                <a:ea typeface="Calibri" pitchFamily="34" charset="-122"/>
                <a:cs typeface="Calibri" pitchFamily="34" charset="-120"/>
              </a:rPr>
              <a:t>⏳  In Progress</a:t>
            </a:r>
            <a:endParaRPr lang="en-US" sz="1000" dirty="0"/>
          </a:p>
        </p:txBody>
      </p:sp>
      <p:sp>
        <p:nvSpPr>
          <p:cNvPr id="44" name="Text 42"/>
          <p:cNvSpPr/>
          <p:nvPr/>
        </p:nvSpPr>
        <p:spPr>
          <a:xfrm>
            <a:off x="5870448" y="3694176"/>
            <a:ext cx="1700784" cy="713232"/>
          </a:xfrm>
          <a:prstGeom prst="rect">
            <a:avLst/>
          </a:prstGeom>
          <a:noFill/>
        </p:spPr>
        <p:txBody>
          <a:bodyPr wrap="square" lIns="0" tIns="0" rIns="0" bIns="0" rtlCol="0" anchor="t"/>
          <a:lstStyle/>
          <a:p>
            <a:pPr marL="0" indent="0">
              <a:buNone/>
            </a:pPr>
            <a:r>
              <a:rPr lang="en-US" sz="950" dirty="0">
                <a:solidFill>
                  <a:srgbClr val="64748B"/>
                </a:solidFill>
                <a:latin typeface="Calibri" pitchFamily="34" charset="0"/>
                <a:ea typeface="Calibri" pitchFamily="34" charset="-122"/>
                <a:cs typeface="Calibri" pitchFamily="34" charset="-120"/>
              </a:rPr>
              <a:t>Website traffic</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Conversions &amp; user behavior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47920"/>
          </a:solidFill>
          <a:ln w="12700">
            <a:solidFill>
              <a:srgbClr val="F47920"/>
            </a:solidFill>
            <a:prstDash val="solid"/>
          </a:ln>
        </p:spPr>
      </p:sp>
      <p:sp>
        <p:nvSpPr>
          <p:cNvPr id="3" name="Text 1"/>
          <p:cNvSpPr/>
          <p:nvPr/>
        </p:nvSpPr>
        <p:spPr>
          <a:xfrm>
            <a:off x="274320" y="164592"/>
            <a:ext cx="457200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TECHNICAL ARCHITECTURE</a:t>
            </a:r>
            <a:endParaRPr lang="en-US" sz="900" dirty="0"/>
          </a:p>
        </p:txBody>
      </p:sp>
      <p:sp>
        <p:nvSpPr>
          <p:cNvPr id="4" name="Text 2"/>
          <p:cNvSpPr/>
          <p:nvPr/>
        </p:nvSpPr>
        <p:spPr>
          <a:xfrm>
            <a:off x="274320" y="438912"/>
            <a:ext cx="8595360" cy="548640"/>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End-to-End Automated Pipeline</a:t>
            </a:r>
            <a:endParaRPr lang="en-US" sz="2600" dirty="0"/>
          </a:p>
        </p:txBody>
      </p:sp>
      <p:sp>
        <p:nvSpPr>
          <p:cNvPr id="5" name="Shape 3"/>
          <p:cNvSpPr/>
          <p:nvPr/>
        </p:nvSpPr>
        <p:spPr>
          <a:xfrm>
            <a:off x="228600" y="1170432"/>
            <a:ext cx="1828800" cy="3291840"/>
          </a:xfrm>
          <a:prstGeom prst="rect">
            <a:avLst/>
          </a:prstGeom>
          <a:solidFill>
            <a:srgbClr val="065A82"/>
          </a:solidFill>
          <a:ln w="12700">
            <a:solidFill>
              <a:srgbClr val="065A82"/>
            </a:solidFill>
            <a:prstDash val="solid"/>
          </a:ln>
          <a:effectLst>
            <a:outerShdw blurRad="101600" dist="25400" dir="8100000" algn="bl" rotWithShape="0">
              <a:srgbClr val="000000">
                <a:alpha val="13000"/>
              </a:srgbClr>
            </a:outerShdw>
          </a:effectLst>
        </p:spPr>
      </p:sp>
      <p:sp>
        <p:nvSpPr>
          <p:cNvPr id="6" name="Text 4"/>
          <p:cNvSpPr/>
          <p:nvPr/>
        </p:nvSpPr>
        <p:spPr>
          <a:xfrm>
            <a:off x="301752" y="1261872"/>
            <a:ext cx="1682496" cy="594360"/>
          </a:xfrm>
          <a:prstGeom prst="rect">
            <a:avLst/>
          </a:prstGeom>
          <a:noFill/>
        </p:spPr>
        <p:txBody>
          <a:bodyPr wrap="square" lIns="0" tIns="0" rIns="0" bIns="0" rtlCol="0" anchor="ctr"/>
          <a:lstStyle/>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Platform</a:t>
            </a:r>
            <a:endParaRPr lang="en-US" sz="1300" dirty="0"/>
          </a:p>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APIs</a:t>
            </a:r>
            <a:endParaRPr lang="en-US" sz="1300" dirty="0"/>
          </a:p>
        </p:txBody>
      </p:sp>
      <p:sp>
        <p:nvSpPr>
          <p:cNvPr id="7" name="Shape 5"/>
          <p:cNvSpPr/>
          <p:nvPr/>
        </p:nvSpPr>
        <p:spPr>
          <a:xfrm>
            <a:off x="228600" y="1883664"/>
            <a:ext cx="1828800" cy="36576"/>
          </a:xfrm>
          <a:prstGeom prst="rect">
            <a:avLst/>
          </a:prstGeom>
          <a:solidFill>
            <a:srgbClr val="FFFFFF">
              <a:alpha val="35000"/>
            </a:srgbClr>
          </a:solidFill>
          <a:ln w="12700">
            <a:solidFill>
              <a:srgbClr val="FFFFFF">
                <a:alpha val="35000"/>
              </a:srgbClr>
            </a:solidFill>
            <a:prstDash val="solid"/>
          </a:ln>
        </p:spPr>
      </p:sp>
      <p:sp>
        <p:nvSpPr>
          <p:cNvPr id="8" name="Text 6"/>
          <p:cNvSpPr/>
          <p:nvPr/>
        </p:nvSpPr>
        <p:spPr>
          <a:xfrm>
            <a:off x="320040" y="2011680"/>
            <a:ext cx="1645920" cy="2286000"/>
          </a:xfrm>
          <a:prstGeom prst="rect">
            <a:avLst/>
          </a:prstGeom>
          <a:noFill/>
        </p:spPr>
        <p:txBody>
          <a:bodyPr wrap="square" rtlCol="0" anchor="t"/>
          <a:lstStyle/>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YouTube Data API v3</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Mailchimp API v3</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Facebook Graph API</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LinkedIn API</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GA4 Reporting API</a:t>
            </a:r>
            <a:endParaRPr lang="en-US" sz="950" dirty="0"/>
          </a:p>
        </p:txBody>
      </p:sp>
      <p:sp>
        <p:nvSpPr>
          <p:cNvPr id="9" name="Shape 7"/>
          <p:cNvSpPr/>
          <p:nvPr/>
        </p:nvSpPr>
        <p:spPr>
          <a:xfrm>
            <a:off x="2084832" y="2779776"/>
            <a:ext cx="347472" cy="73152"/>
          </a:xfrm>
          <a:prstGeom prst="rect">
            <a:avLst/>
          </a:prstGeom>
          <a:solidFill>
            <a:srgbClr val="F47920"/>
          </a:solidFill>
          <a:ln w="12700">
            <a:solidFill>
              <a:srgbClr val="F47920"/>
            </a:solidFill>
            <a:prstDash val="solid"/>
          </a:ln>
        </p:spPr>
      </p:sp>
      <p:sp>
        <p:nvSpPr>
          <p:cNvPr id="10" name="Text 8"/>
          <p:cNvSpPr/>
          <p:nvPr/>
        </p:nvSpPr>
        <p:spPr>
          <a:xfrm>
            <a:off x="2313432" y="2615184"/>
            <a:ext cx="201168" cy="402336"/>
          </a:xfrm>
          <a:prstGeom prst="rect">
            <a:avLst/>
          </a:prstGeom>
          <a:noFill/>
        </p:spPr>
        <p:txBody>
          <a:bodyPr wrap="square" lIns="0" tIns="0" rIns="0" bIns="0" rtlCol="0" anchor="ctr"/>
          <a:lstStyle/>
          <a:p>
            <a:pPr marL="0" indent="0" algn="ctr">
              <a:buNone/>
            </a:pPr>
            <a:r>
              <a:rPr lang="en-US" sz="1400" dirty="0">
                <a:solidFill>
                  <a:srgbClr val="F47920"/>
                </a:solidFill>
              </a:rPr>
              <a:t>▶</a:t>
            </a:r>
            <a:endParaRPr lang="en-US" sz="1400" dirty="0"/>
          </a:p>
        </p:txBody>
      </p:sp>
      <p:sp>
        <p:nvSpPr>
          <p:cNvPr id="11" name="Shape 9"/>
          <p:cNvSpPr/>
          <p:nvPr/>
        </p:nvSpPr>
        <p:spPr>
          <a:xfrm>
            <a:off x="2514600" y="1170432"/>
            <a:ext cx="1828800" cy="3291840"/>
          </a:xfrm>
          <a:prstGeom prst="rect">
            <a:avLst/>
          </a:prstGeom>
          <a:solidFill>
            <a:srgbClr val="1B3A6B"/>
          </a:solidFill>
          <a:ln w="12700">
            <a:solidFill>
              <a:srgbClr val="1B3A6B"/>
            </a:solidFill>
            <a:prstDash val="solid"/>
          </a:ln>
          <a:effectLst>
            <a:outerShdw blurRad="101600" dist="25400" dir="8100000" algn="bl" rotWithShape="0">
              <a:srgbClr val="000000">
                <a:alpha val="13000"/>
              </a:srgbClr>
            </a:outerShdw>
          </a:effectLst>
        </p:spPr>
      </p:sp>
      <p:sp>
        <p:nvSpPr>
          <p:cNvPr id="12" name="Text 10"/>
          <p:cNvSpPr/>
          <p:nvPr/>
        </p:nvSpPr>
        <p:spPr>
          <a:xfrm>
            <a:off x="2587752" y="1261872"/>
            <a:ext cx="1682496" cy="594360"/>
          </a:xfrm>
          <a:prstGeom prst="rect">
            <a:avLst/>
          </a:prstGeom>
          <a:noFill/>
        </p:spPr>
        <p:txBody>
          <a:bodyPr wrap="square" lIns="0" tIns="0" rIns="0" bIns="0" rtlCol="0" anchor="ctr"/>
          <a:lstStyle/>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Python</a:t>
            </a:r>
            <a:endParaRPr lang="en-US" sz="1300" dirty="0"/>
          </a:p>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Scripts</a:t>
            </a:r>
            <a:endParaRPr lang="en-US" sz="1300" dirty="0"/>
          </a:p>
        </p:txBody>
      </p:sp>
      <p:sp>
        <p:nvSpPr>
          <p:cNvPr id="13" name="Shape 11"/>
          <p:cNvSpPr/>
          <p:nvPr/>
        </p:nvSpPr>
        <p:spPr>
          <a:xfrm>
            <a:off x="2514600" y="1883664"/>
            <a:ext cx="1828800" cy="36576"/>
          </a:xfrm>
          <a:prstGeom prst="rect">
            <a:avLst/>
          </a:prstGeom>
          <a:solidFill>
            <a:srgbClr val="FFFFFF">
              <a:alpha val="35000"/>
            </a:srgbClr>
          </a:solidFill>
          <a:ln w="12700">
            <a:solidFill>
              <a:srgbClr val="FFFFFF">
                <a:alpha val="35000"/>
              </a:srgbClr>
            </a:solidFill>
            <a:prstDash val="solid"/>
          </a:ln>
        </p:spPr>
      </p:sp>
      <p:sp>
        <p:nvSpPr>
          <p:cNvPr id="14" name="Text 12"/>
          <p:cNvSpPr/>
          <p:nvPr/>
        </p:nvSpPr>
        <p:spPr>
          <a:xfrm>
            <a:off x="2606040" y="2011680"/>
            <a:ext cx="1645920" cy="2286000"/>
          </a:xfrm>
          <a:prstGeom prst="rect">
            <a:avLst/>
          </a:prstGeom>
          <a:noFill/>
        </p:spPr>
        <p:txBody>
          <a:bodyPr wrap="square" rtlCol="0" anchor="t"/>
          <a:lstStyle/>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Data extraction</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Cleaning &amp; transforms</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Type enforcement</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Scheduled runs</a:t>
            </a:r>
            <a:endParaRPr lang="en-US" sz="950" dirty="0"/>
          </a:p>
        </p:txBody>
      </p:sp>
      <p:sp>
        <p:nvSpPr>
          <p:cNvPr id="15" name="Shape 13"/>
          <p:cNvSpPr/>
          <p:nvPr/>
        </p:nvSpPr>
        <p:spPr>
          <a:xfrm>
            <a:off x="4370832" y="2779776"/>
            <a:ext cx="347472" cy="73152"/>
          </a:xfrm>
          <a:prstGeom prst="rect">
            <a:avLst/>
          </a:prstGeom>
          <a:solidFill>
            <a:srgbClr val="F47920"/>
          </a:solidFill>
          <a:ln w="12700">
            <a:solidFill>
              <a:srgbClr val="F47920"/>
            </a:solidFill>
            <a:prstDash val="solid"/>
          </a:ln>
        </p:spPr>
      </p:sp>
      <p:sp>
        <p:nvSpPr>
          <p:cNvPr id="16" name="Text 14"/>
          <p:cNvSpPr/>
          <p:nvPr/>
        </p:nvSpPr>
        <p:spPr>
          <a:xfrm>
            <a:off x="4599432" y="2615184"/>
            <a:ext cx="201168" cy="402336"/>
          </a:xfrm>
          <a:prstGeom prst="rect">
            <a:avLst/>
          </a:prstGeom>
          <a:noFill/>
        </p:spPr>
        <p:txBody>
          <a:bodyPr wrap="square" lIns="0" tIns="0" rIns="0" bIns="0" rtlCol="0" anchor="ctr"/>
          <a:lstStyle/>
          <a:p>
            <a:pPr marL="0" indent="0" algn="ctr">
              <a:buNone/>
            </a:pPr>
            <a:r>
              <a:rPr lang="en-US" sz="1400" dirty="0">
                <a:solidFill>
                  <a:srgbClr val="F47920"/>
                </a:solidFill>
              </a:rPr>
              <a:t>▶</a:t>
            </a:r>
            <a:endParaRPr lang="en-US" sz="1400" dirty="0"/>
          </a:p>
        </p:txBody>
      </p:sp>
      <p:sp>
        <p:nvSpPr>
          <p:cNvPr id="17" name="Shape 15"/>
          <p:cNvSpPr/>
          <p:nvPr/>
        </p:nvSpPr>
        <p:spPr>
          <a:xfrm>
            <a:off x="4800600" y="1170432"/>
            <a:ext cx="1828800" cy="3291840"/>
          </a:xfrm>
          <a:prstGeom prst="rect">
            <a:avLst/>
          </a:prstGeom>
          <a:solidFill>
            <a:srgbClr val="1E4080"/>
          </a:solidFill>
          <a:ln w="12700">
            <a:solidFill>
              <a:srgbClr val="1E4080"/>
            </a:solidFill>
            <a:prstDash val="solid"/>
          </a:ln>
          <a:effectLst>
            <a:outerShdw blurRad="101600" dist="25400" dir="8100000" algn="bl" rotWithShape="0">
              <a:srgbClr val="000000">
                <a:alpha val="13000"/>
              </a:srgbClr>
            </a:outerShdw>
          </a:effectLst>
        </p:spPr>
      </p:sp>
      <p:sp>
        <p:nvSpPr>
          <p:cNvPr id="18" name="Text 16"/>
          <p:cNvSpPr/>
          <p:nvPr/>
        </p:nvSpPr>
        <p:spPr>
          <a:xfrm>
            <a:off x="4873752" y="1261872"/>
            <a:ext cx="1682496" cy="594360"/>
          </a:xfrm>
          <a:prstGeom prst="rect">
            <a:avLst/>
          </a:prstGeom>
          <a:noFill/>
        </p:spPr>
        <p:txBody>
          <a:bodyPr wrap="square" lIns="0" tIns="0" rIns="0" bIns="0" rtlCol="0" anchor="ctr"/>
          <a:lstStyle/>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Azure SQL</a:t>
            </a:r>
            <a:endParaRPr lang="en-US" sz="1300" dirty="0"/>
          </a:p>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Database</a:t>
            </a:r>
            <a:endParaRPr lang="en-US" sz="1300" dirty="0"/>
          </a:p>
        </p:txBody>
      </p:sp>
      <p:sp>
        <p:nvSpPr>
          <p:cNvPr id="19" name="Shape 17"/>
          <p:cNvSpPr/>
          <p:nvPr/>
        </p:nvSpPr>
        <p:spPr>
          <a:xfrm>
            <a:off x="4800600" y="1883664"/>
            <a:ext cx="1828800" cy="36576"/>
          </a:xfrm>
          <a:prstGeom prst="rect">
            <a:avLst/>
          </a:prstGeom>
          <a:solidFill>
            <a:srgbClr val="FFFFFF">
              <a:alpha val="35000"/>
            </a:srgbClr>
          </a:solidFill>
          <a:ln w="12700">
            <a:solidFill>
              <a:srgbClr val="FFFFFF">
                <a:alpha val="35000"/>
              </a:srgbClr>
            </a:solidFill>
            <a:prstDash val="solid"/>
          </a:ln>
        </p:spPr>
      </p:sp>
      <p:sp>
        <p:nvSpPr>
          <p:cNvPr id="20" name="Text 18"/>
          <p:cNvSpPr/>
          <p:nvPr/>
        </p:nvSpPr>
        <p:spPr>
          <a:xfrm>
            <a:off x="4892040" y="2011680"/>
            <a:ext cx="1645920" cy="2286000"/>
          </a:xfrm>
          <a:prstGeom prst="rect">
            <a:avLst/>
          </a:prstGeom>
          <a:noFill/>
        </p:spPr>
        <p:txBody>
          <a:bodyPr wrap="square" rtlCol="0" anchor="t"/>
          <a:lstStyle/>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Centralized storage</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Relational schema</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Historical tracking</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Cloud hosted</a:t>
            </a:r>
            <a:endParaRPr lang="en-US" sz="950" dirty="0"/>
          </a:p>
        </p:txBody>
      </p:sp>
      <p:sp>
        <p:nvSpPr>
          <p:cNvPr id="21" name="Shape 19"/>
          <p:cNvSpPr/>
          <p:nvPr/>
        </p:nvSpPr>
        <p:spPr>
          <a:xfrm>
            <a:off x="6656832" y="2779776"/>
            <a:ext cx="347472" cy="73152"/>
          </a:xfrm>
          <a:prstGeom prst="rect">
            <a:avLst/>
          </a:prstGeom>
          <a:solidFill>
            <a:srgbClr val="F47920"/>
          </a:solidFill>
          <a:ln w="12700">
            <a:solidFill>
              <a:srgbClr val="F47920"/>
            </a:solidFill>
            <a:prstDash val="solid"/>
          </a:ln>
        </p:spPr>
      </p:sp>
      <p:sp>
        <p:nvSpPr>
          <p:cNvPr id="22" name="Text 20"/>
          <p:cNvSpPr/>
          <p:nvPr/>
        </p:nvSpPr>
        <p:spPr>
          <a:xfrm>
            <a:off x="6885432" y="2615184"/>
            <a:ext cx="201168" cy="402336"/>
          </a:xfrm>
          <a:prstGeom prst="rect">
            <a:avLst/>
          </a:prstGeom>
          <a:noFill/>
        </p:spPr>
        <p:txBody>
          <a:bodyPr wrap="square" lIns="0" tIns="0" rIns="0" bIns="0" rtlCol="0" anchor="ctr"/>
          <a:lstStyle/>
          <a:p>
            <a:pPr marL="0" indent="0" algn="ctr">
              <a:buNone/>
            </a:pPr>
            <a:r>
              <a:rPr lang="en-US" sz="1400" dirty="0">
                <a:solidFill>
                  <a:srgbClr val="F47920"/>
                </a:solidFill>
              </a:rPr>
              <a:t>▶</a:t>
            </a:r>
            <a:endParaRPr lang="en-US" sz="1400" dirty="0"/>
          </a:p>
        </p:txBody>
      </p:sp>
      <p:sp>
        <p:nvSpPr>
          <p:cNvPr id="23" name="Shape 21"/>
          <p:cNvSpPr/>
          <p:nvPr/>
        </p:nvSpPr>
        <p:spPr>
          <a:xfrm>
            <a:off x="7086600" y="1170432"/>
            <a:ext cx="1828800" cy="3291840"/>
          </a:xfrm>
          <a:prstGeom prst="rect">
            <a:avLst/>
          </a:prstGeom>
          <a:solidFill>
            <a:srgbClr val="F47920"/>
          </a:solidFill>
          <a:ln w="12700">
            <a:solidFill>
              <a:srgbClr val="F47920"/>
            </a:solidFill>
            <a:prstDash val="solid"/>
          </a:ln>
          <a:effectLst>
            <a:outerShdw blurRad="101600" dist="25400" dir="8100000" algn="bl" rotWithShape="0">
              <a:srgbClr val="000000">
                <a:alpha val="13000"/>
              </a:srgbClr>
            </a:outerShdw>
          </a:effectLst>
        </p:spPr>
      </p:sp>
      <p:sp>
        <p:nvSpPr>
          <p:cNvPr id="24" name="Text 22"/>
          <p:cNvSpPr/>
          <p:nvPr/>
        </p:nvSpPr>
        <p:spPr>
          <a:xfrm>
            <a:off x="7159752" y="1261872"/>
            <a:ext cx="1682496" cy="594360"/>
          </a:xfrm>
          <a:prstGeom prst="rect">
            <a:avLst/>
          </a:prstGeom>
          <a:noFill/>
        </p:spPr>
        <p:txBody>
          <a:bodyPr wrap="square" lIns="0" tIns="0" rIns="0" bIns="0" rtlCol="0" anchor="ctr"/>
          <a:lstStyle/>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Power BI</a:t>
            </a:r>
            <a:endParaRPr lang="en-US" sz="1300" dirty="0"/>
          </a:p>
          <a:p>
            <a:pPr marL="0" indent="0" algn="ctr">
              <a:buNone/>
            </a:pPr>
            <a:r>
              <a:rPr lang="en-US" sz="1300"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Dashboards</a:t>
            </a:r>
            <a:endParaRPr lang="en-US" sz="1300" dirty="0"/>
          </a:p>
        </p:txBody>
      </p:sp>
      <p:sp>
        <p:nvSpPr>
          <p:cNvPr id="25" name="Shape 23"/>
          <p:cNvSpPr/>
          <p:nvPr/>
        </p:nvSpPr>
        <p:spPr>
          <a:xfrm>
            <a:off x="7086600" y="1883664"/>
            <a:ext cx="1828800" cy="36576"/>
          </a:xfrm>
          <a:prstGeom prst="rect">
            <a:avLst/>
          </a:prstGeom>
          <a:solidFill>
            <a:srgbClr val="FFFFFF">
              <a:alpha val="35000"/>
            </a:srgbClr>
          </a:solidFill>
          <a:ln w="12700">
            <a:solidFill>
              <a:srgbClr val="FFFFFF">
                <a:alpha val="35000"/>
              </a:srgbClr>
            </a:solidFill>
            <a:prstDash val="solid"/>
          </a:ln>
        </p:spPr>
      </p:sp>
      <p:sp>
        <p:nvSpPr>
          <p:cNvPr id="26" name="Text 24"/>
          <p:cNvSpPr/>
          <p:nvPr/>
        </p:nvSpPr>
        <p:spPr>
          <a:xfrm>
            <a:off x="7178040" y="2011680"/>
            <a:ext cx="1645920" cy="2286000"/>
          </a:xfrm>
          <a:prstGeom prst="rect">
            <a:avLst/>
          </a:prstGeom>
          <a:noFill/>
        </p:spPr>
        <p:txBody>
          <a:bodyPr wrap="square" rtlCol="0" anchor="t"/>
          <a:lstStyle/>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Live DB connection</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Interactive filters</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Per-platform views</a:t>
            </a:r>
            <a:endParaRPr lang="en-US" sz="950" dirty="0"/>
          </a:p>
          <a:p>
            <a:pPr marL="342900" indent="-342900">
              <a:buSzPct val="100000"/>
              <a:buChar char="•"/>
            </a:pPr>
            <a:r>
              <a:rPr lang="en-US" sz="950" dirty="0">
                <a:solidFill>
                  <a:srgbClr val="C8DCF0"/>
                </a:solidFill>
                <a:latin typeface="Calibri" pitchFamily="34" charset="0"/>
                <a:ea typeface="Calibri" pitchFamily="34" charset="-122"/>
                <a:cs typeface="Calibri" pitchFamily="34" charset="-120"/>
              </a:rPr>
              <a:t>KPI tracking</a:t>
            </a:r>
            <a:endParaRPr lang="en-US" sz="950" dirty="0"/>
          </a:p>
        </p:txBody>
      </p:sp>
      <p:sp>
        <p:nvSpPr>
          <p:cNvPr id="27" name="Text 25"/>
          <p:cNvSpPr/>
          <p:nvPr/>
        </p:nvSpPr>
        <p:spPr>
          <a:xfrm>
            <a:off x="274320" y="4709160"/>
            <a:ext cx="8595360" cy="274320"/>
          </a:xfrm>
          <a:prstGeom prst="rect">
            <a:avLst/>
          </a:prstGeom>
          <a:noFill/>
        </p:spPr>
        <p:txBody>
          <a:bodyPr wrap="square" lIns="0" tIns="0" rIns="0" bIns="0" rtlCol="0" anchor="ctr"/>
          <a:lstStyle/>
          <a:p>
            <a:pPr marL="0" indent="0" algn="ctr">
              <a:buNone/>
            </a:pPr>
            <a:r>
              <a:rPr lang="en-US" sz="950" i="1" dirty="0">
                <a:solidFill>
                  <a:srgbClr val="8AADCA"/>
                </a:solidFill>
                <a:latin typeface="Calibri" pitchFamily="34" charset="0"/>
                <a:ea typeface="Calibri" pitchFamily="34" charset="-122"/>
                <a:cs typeface="Calibri" pitchFamily="34" charset="-120"/>
              </a:rPr>
              <a:t>Python scripts extract from each platform API on schedule → loaded to Azure SQL → Power BI connects live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RESULTS — YOUTUBE</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YouTube Star Schema</a:t>
            </a:r>
            <a:endParaRPr lang="en-US" sz="2600" dirty="0"/>
          </a:p>
        </p:txBody>
      </p:sp>
      <p:pic>
        <p:nvPicPr>
          <p:cNvPr id="6" name="Picture 5"/>
          <p:cNvPicPr>
            <a:picLocks noChangeAspect="1"/>
          </p:cNvPicPr>
          <p:nvPr/>
        </p:nvPicPr>
        <p:blipFill>
          <a:blip r:embed="rId1"/>
          <a:stretch>
            <a:fillRect/>
          </a:stretch>
        </p:blipFill>
        <p:spPr>
          <a:xfrm>
            <a:off x="64135" y="1123315"/>
            <a:ext cx="4957445" cy="3885565"/>
          </a:xfrm>
          <a:prstGeom prst="rect">
            <a:avLst/>
          </a:prstGeom>
        </p:spPr>
      </p:pic>
      <p:sp>
        <p:nvSpPr>
          <p:cNvPr id="9" name="Text Box 8"/>
          <p:cNvSpPr txBox="1"/>
          <p:nvPr/>
        </p:nvSpPr>
        <p:spPr>
          <a:xfrm>
            <a:off x="5098415" y="1123315"/>
            <a:ext cx="3986530" cy="3686175"/>
          </a:xfrm>
          <a:prstGeom prst="rect">
            <a:avLst/>
          </a:prstGeom>
          <a:noFill/>
        </p:spPr>
        <p:txBody>
          <a:bodyPr wrap="square" rtlCol="0">
            <a:noAutofit/>
          </a:bodyPr>
          <a:p>
            <a:r>
              <a:rPr lang="en-US" altLang="zh-CN" sz="1000">
                <a:sym typeface="+mn-ea"/>
              </a:rPr>
              <a:t>At the center are fact tables that store measurable metrics such as views, watch time, engagement, and subscriber changes.</a:t>
            </a:r>
            <a:endParaRPr lang="en-US" altLang="zh-CN" sz="1000"/>
          </a:p>
          <a:p>
            <a:r>
              <a:rPr lang="en-US" altLang="zh-CN" sz="1000">
                <a:sym typeface="+mn-ea"/>
              </a:rPr>
              <a:t>These fact tables are connected to several dimension tables, including:</a:t>
            </a:r>
            <a:endParaRPr lang="en-US" altLang="zh-CN" sz="1000"/>
          </a:p>
          <a:p>
            <a:endParaRPr lang="en-US" altLang="zh-CN" sz="1000"/>
          </a:p>
          <a:p>
            <a:pPr>
              <a:buFont typeface="Arial" panose="020B0704020202020204"/>
              <a:buChar char="•"/>
            </a:pPr>
            <a:r>
              <a:rPr lang="en-US" altLang="zh-CN" sz="1000">
                <a:sym typeface="+mn-ea"/>
              </a:rPr>
              <a:t>dim_video – video metadata such as title, publish date, duration, and category</a:t>
            </a:r>
            <a:endParaRPr lang="en-US" altLang="zh-CN" sz="1000"/>
          </a:p>
          <a:p>
            <a:pPr>
              <a:buFont typeface="Arial" panose="020B0704020202020204"/>
              <a:buChar char="•"/>
            </a:pPr>
            <a:endParaRPr lang="en-US" altLang="zh-CN" sz="1000"/>
          </a:p>
          <a:p>
            <a:pPr>
              <a:buFont typeface="Arial" panose="020B0704020202020204"/>
              <a:buChar char="•"/>
            </a:pPr>
            <a:r>
              <a:rPr lang="en-US" altLang="zh-CN" sz="1000">
                <a:sym typeface="+mn-ea"/>
              </a:rPr>
              <a:t>dim_channel – channel-level information including subscriber count and country</a:t>
            </a:r>
            <a:endParaRPr lang="en-US" altLang="zh-CN" sz="1000"/>
          </a:p>
          <a:p>
            <a:pPr>
              <a:buFont typeface="Arial" panose="020B0704020202020204"/>
              <a:buChar char="•"/>
            </a:pPr>
            <a:endParaRPr lang="en-US" altLang="zh-CN" sz="1000"/>
          </a:p>
          <a:p>
            <a:pPr>
              <a:buFont typeface="Arial" panose="020B0704020202020204"/>
              <a:buChar char="•"/>
            </a:pPr>
            <a:r>
              <a:rPr lang="en-US" altLang="zh-CN" sz="1000">
                <a:sym typeface="+mn-ea"/>
              </a:rPr>
              <a:t>dim_date – calendar attributes used for time-based analysis</a:t>
            </a:r>
            <a:endParaRPr lang="en-US" altLang="zh-CN" sz="1000"/>
          </a:p>
          <a:p>
            <a:pPr>
              <a:buFont typeface="Arial" panose="020B0704020202020204"/>
              <a:buChar char="•"/>
            </a:pPr>
            <a:endParaRPr lang="en-US" altLang="zh-CN" sz="1000"/>
          </a:p>
          <a:p>
            <a:pPr>
              <a:buFont typeface="Arial" panose="020B0704020202020204"/>
              <a:buChar char="•"/>
            </a:pPr>
            <a:r>
              <a:rPr lang="en-US" altLang="zh-CN" sz="1000">
                <a:sym typeface="+mn-ea"/>
              </a:rPr>
              <a:t>dim_content_length – categorizes videos based on duration</a:t>
            </a:r>
            <a:endParaRPr lang="en-US" altLang="zh-CN" sz="1000"/>
          </a:p>
          <a:p>
            <a:r>
              <a:rPr lang="en-US" altLang="zh-CN" sz="1000">
                <a:sym typeface="+mn-ea"/>
              </a:rPr>
              <a:t>This structure enables fast aggregation and flexible analysis, allowing us to track performance across videos, channels, and time.</a:t>
            </a:r>
            <a:endParaRPr lang="en-US" altLang="zh-CN" sz="1000">
              <a:sym typeface="+mn-ea"/>
            </a:endParaRPr>
          </a:p>
          <a:p>
            <a:endParaRPr lang="en-US" altLang="zh-CN" sz="1000"/>
          </a:p>
          <a:p>
            <a:r>
              <a:rPr lang="en-US" altLang="zh-CN" sz="1000">
                <a:sym typeface="+mn-ea"/>
              </a:rPr>
              <a:t>Additionally, the schema includes:</a:t>
            </a:r>
            <a:endParaRPr lang="en-US" altLang="zh-CN" sz="1000"/>
          </a:p>
          <a:p>
            <a:endParaRPr lang="en-US" altLang="zh-CN" sz="1000"/>
          </a:p>
          <a:p>
            <a:pPr>
              <a:buFont typeface="Arial" panose="020B0704020202020204"/>
              <a:buChar char="•"/>
            </a:pPr>
            <a:r>
              <a:rPr lang="en-US" altLang="zh-CN" sz="1000">
                <a:sym typeface="+mn-ea"/>
              </a:rPr>
              <a:t>Daily fact tables to monitor detailed performance metrics</a:t>
            </a:r>
            <a:endParaRPr lang="en-US" altLang="zh-CN" sz="1000"/>
          </a:p>
          <a:p>
            <a:pPr>
              <a:buFont typeface="Arial" panose="020B0704020202020204"/>
              <a:buChar char="•"/>
            </a:pPr>
            <a:endParaRPr lang="en-US" altLang="zh-CN" sz="1000"/>
          </a:p>
          <a:p>
            <a:pPr>
              <a:buFont typeface="Arial" panose="020B0704020202020204"/>
              <a:buChar char="•"/>
            </a:pPr>
            <a:r>
              <a:rPr lang="en-US" altLang="zh-CN" sz="1000">
                <a:sym typeface="+mn-ea"/>
              </a:rPr>
              <a:t>Weekly ranking tables to identify top-performing videos across key KPIs</a:t>
            </a:r>
            <a:endParaRPr lang="en-US" altLang="zh-CN"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RESULTS — YOUTUBE</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YouTube Analytics Dashboard</a:t>
            </a:r>
            <a:endParaRPr lang="en-US" sz="2600" dirty="0"/>
          </a:p>
        </p:txBody>
      </p:sp>
      <p:pic>
        <p:nvPicPr>
          <p:cNvPr id="6" name="Image 0" descr="/tmp/youtube_dashboard.png"/>
          <p:cNvPicPr>
            <a:picLocks noChangeAspect="1"/>
          </p:cNvPicPr>
          <p:nvPr/>
        </p:nvPicPr>
        <p:blipFill>
          <a:blip r:embed="rId1"/>
          <a:stretch>
            <a:fillRect/>
          </a:stretch>
        </p:blipFill>
        <p:spPr>
          <a:xfrm>
            <a:off x="1510235" y="960120"/>
            <a:ext cx="6123529" cy="4069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RESULTS — YOUTUBE</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Mailchimp Star Schema</a:t>
            </a:r>
            <a:endParaRPr lang="en-US" sz="2600" dirty="0"/>
          </a:p>
        </p:txBody>
      </p:sp>
      <p:pic>
        <p:nvPicPr>
          <p:cNvPr id="6" name="Picture 5"/>
          <p:cNvPicPr>
            <a:picLocks noChangeAspect="1"/>
          </p:cNvPicPr>
          <p:nvPr/>
        </p:nvPicPr>
        <p:blipFill>
          <a:blip r:embed="rId1"/>
          <a:stretch>
            <a:fillRect/>
          </a:stretch>
        </p:blipFill>
        <p:spPr>
          <a:xfrm>
            <a:off x="255905" y="1028700"/>
            <a:ext cx="4537075" cy="4018280"/>
          </a:xfrm>
          <a:prstGeom prst="rect">
            <a:avLst/>
          </a:prstGeom>
        </p:spPr>
      </p:pic>
      <p:sp>
        <p:nvSpPr>
          <p:cNvPr id="7" name="Text Box 6"/>
          <p:cNvSpPr txBox="1"/>
          <p:nvPr/>
        </p:nvSpPr>
        <p:spPr>
          <a:xfrm>
            <a:off x="4857750" y="1087755"/>
            <a:ext cx="4070350" cy="3784600"/>
          </a:xfrm>
          <a:prstGeom prst="rect">
            <a:avLst/>
          </a:prstGeom>
        </p:spPr>
        <p:txBody>
          <a:bodyPr wrap="square">
            <a:spAutoFit/>
          </a:bodyPr>
          <a:p>
            <a:r>
              <a:rPr lang="en-US" altLang="zh-CN" sz="1000"/>
              <a:t>The core fact tables capture key marketing metrics:</a:t>
            </a:r>
            <a:endParaRPr lang="en-US" altLang="zh-CN" sz="1000"/>
          </a:p>
          <a:p>
            <a:endParaRPr lang="en-US" altLang="zh-CN" sz="1000"/>
          </a:p>
          <a:p>
            <a:pPr>
              <a:buFont typeface="Arial" panose="020B0704020202020204"/>
              <a:buChar char="•"/>
            </a:pPr>
            <a:r>
              <a:rPr lang="en-US" altLang="zh-CN" sz="1000"/>
              <a:t>fact_mailchimp_campaigns_monthly – tracks campaign performance </a:t>
            </a:r>
            <a:endParaRPr lang="en-US" altLang="zh-CN" sz="1000"/>
          </a:p>
          <a:p>
            <a:pPr indent="0">
              <a:buFont typeface="Arial" panose="020B0704020202020204"/>
              <a:buNone/>
            </a:pPr>
            <a:endParaRPr lang="en-US" altLang="zh-CN" sz="1000"/>
          </a:p>
          <a:p>
            <a:pPr>
              <a:buFont typeface="Arial" panose="020B0704020202020204"/>
              <a:buChar char="•"/>
            </a:pPr>
            <a:r>
              <a:rPr lang="en-US" altLang="zh-CN" sz="1000"/>
              <a:t>fact_marketing_audience_monthly – records audience growth metrics </a:t>
            </a:r>
            <a:endParaRPr lang="en-US" altLang="zh-CN" sz="1000"/>
          </a:p>
          <a:p>
            <a:pPr indent="0">
              <a:buFont typeface="Arial" panose="020B0704020202020204"/>
              <a:buNone/>
            </a:pPr>
            <a:endParaRPr lang="en-US" altLang="zh-CN" sz="1000"/>
          </a:p>
          <a:p>
            <a:pPr indent="0">
              <a:buFont typeface="Arial" panose="020B0704020202020204"/>
              <a:buNone/>
            </a:pPr>
            <a:r>
              <a:rPr lang="en-US" altLang="zh-CN" sz="1000"/>
              <a:t>These fact tables are connected to several dimension tables that provide descriptive context:</a:t>
            </a:r>
            <a:endParaRPr lang="en-US" altLang="zh-CN" sz="1000"/>
          </a:p>
          <a:p>
            <a:endParaRPr lang="en-US" altLang="zh-CN" sz="1000"/>
          </a:p>
          <a:p>
            <a:pPr>
              <a:buFont typeface="Arial" panose="020B0704020202020204"/>
              <a:buChar char="•"/>
            </a:pPr>
            <a:r>
              <a:rPr lang="en-US" altLang="zh-CN" sz="1000"/>
              <a:t>dim_date – enables time-based analysis such as monthly trends and campaign performance over time</a:t>
            </a:r>
            <a:endParaRPr lang="en-US" altLang="zh-CN" sz="1000"/>
          </a:p>
          <a:p>
            <a:pPr>
              <a:buFont typeface="Arial" panose="020B0704020202020204"/>
              <a:buChar char="•"/>
            </a:pPr>
            <a:endParaRPr lang="en-US" altLang="zh-CN" sz="1000"/>
          </a:p>
          <a:p>
            <a:pPr>
              <a:buFont typeface="Arial" panose="020B0704020202020204"/>
              <a:buChar char="•"/>
            </a:pPr>
            <a:r>
              <a:rPr lang="en-US" altLang="zh-CN" sz="1000"/>
              <a:t>dim_marketing_campaign – contains campaign metadata </a:t>
            </a:r>
            <a:endParaRPr lang="en-US" altLang="zh-CN" sz="1000"/>
          </a:p>
          <a:p>
            <a:pPr>
              <a:buFont typeface="Arial" panose="020B0704020202020204"/>
              <a:buChar char="•"/>
            </a:pPr>
            <a:endParaRPr lang="en-US" altLang="zh-CN" sz="1000"/>
          </a:p>
          <a:p>
            <a:pPr>
              <a:buFont typeface="Arial" panose="020B0704020202020204"/>
              <a:buChar char="•"/>
            </a:pPr>
            <a:r>
              <a:rPr lang="en-US" altLang="zh-CN" sz="1000"/>
              <a:t>dim_marketing_audience – stores audience information </a:t>
            </a:r>
            <a:endParaRPr lang="en-US" altLang="zh-CN" sz="1000"/>
          </a:p>
          <a:p>
            <a:pPr>
              <a:buFont typeface="Arial" panose="020B0704020202020204"/>
              <a:buChar char="•"/>
            </a:pPr>
            <a:endParaRPr lang="en-US" altLang="zh-CN" sz="1000"/>
          </a:p>
          <a:p>
            <a:pPr>
              <a:buFont typeface="Arial" panose="020B0704020202020204"/>
              <a:buChar char="•"/>
            </a:pPr>
            <a:r>
              <a:rPr lang="en-US" altLang="zh-CN" sz="1000"/>
              <a:t>dim_user – tracks account users responsible for managing campaigns</a:t>
            </a:r>
            <a:endParaRPr lang="en-US" altLang="zh-CN" sz="1000"/>
          </a:p>
          <a:p>
            <a:pPr>
              <a:buFont typeface="Arial" panose="020B0704020202020204"/>
              <a:buChar char="•"/>
            </a:pPr>
            <a:endParaRPr lang="en-US" altLang="zh-CN" sz="1000"/>
          </a:p>
          <a:p>
            <a:r>
              <a:rPr lang="en-US" altLang="zh-CN" sz="1000"/>
              <a:t>This structure allows us to efficiently analyze email marketing KPIs, monitor audience growth, and evaluate campaign engagement performance across time.</a:t>
            </a:r>
            <a:endParaRPr lang="en-US" altLang="zh-CN"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sp>
      <p:sp>
        <p:nvSpPr>
          <p:cNvPr id="3" name="Shape 1"/>
          <p:cNvSpPr/>
          <p:nvPr/>
        </p:nvSpPr>
        <p:spPr>
          <a:xfrm>
            <a:off x="0" y="0"/>
            <a:ext cx="64008" cy="914400"/>
          </a:xfrm>
          <a:prstGeom prst="rect">
            <a:avLst/>
          </a:prstGeom>
          <a:solidFill>
            <a:srgbClr val="F47920"/>
          </a:solidFill>
          <a:ln w="12700">
            <a:solidFill>
              <a:srgbClr val="F47920"/>
            </a:solidFill>
            <a:prstDash val="solid"/>
          </a:ln>
        </p:spPr>
      </p:sp>
      <p:sp>
        <p:nvSpPr>
          <p:cNvPr id="4" name="Text 2"/>
          <p:cNvSpPr/>
          <p:nvPr/>
        </p:nvSpPr>
        <p:spPr>
          <a:xfrm>
            <a:off x="256032" y="73152"/>
            <a:ext cx="859536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RESULTS — MAILCHIMP</a:t>
            </a:r>
            <a:endParaRPr lang="en-US" sz="900" dirty="0"/>
          </a:p>
        </p:txBody>
      </p:sp>
      <p:sp>
        <p:nvSpPr>
          <p:cNvPr id="5" name="Text 3"/>
          <p:cNvSpPr/>
          <p:nvPr/>
        </p:nvSpPr>
        <p:spPr>
          <a:xfrm>
            <a:off x="256032" y="320040"/>
            <a:ext cx="8595360" cy="530352"/>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Email Campaign Analytics Dashboard</a:t>
            </a:r>
            <a:endParaRPr lang="en-US" sz="2600" dirty="0"/>
          </a:p>
        </p:txBody>
      </p:sp>
      <p:pic>
        <p:nvPicPr>
          <p:cNvPr id="6" name="Image 0" descr="/tmp/mailchimp_report.png"/>
          <p:cNvPicPr>
            <a:picLocks noChangeAspect="1"/>
          </p:cNvPicPr>
          <p:nvPr/>
        </p:nvPicPr>
        <p:blipFill>
          <a:blip r:embed="rId1"/>
          <a:stretch>
            <a:fillRect/>
          </a:stretch>
        </p:blipFill>
        <p:spPr>
          <a:xfrm>
            <a:off x="1286727" y="960120"/>
            <a:ext cx="6570547" cy="4069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47920"/>
          </a:solidFill>
          <a:ln w="12700">
            <a:solidFill>
              <a:srgbClr val="F47920"/>
            </a:solidFill>
            <a:prstDash val="solid"/>
          </a:ln>
        </p:spPr>
      </p:sp>
      <p:sp>
        <p:nvSpPr>
          <p:cNvPr id="3" name="Text 1"/>
          <p:cNvSpPr/>
          <p:nvPr/>
        </p:nvSpPr>
        <p:spPr>
          <a:xfrm>
            <a:off x="274320" y="164592"/>
            <a:ext cx="4572000" cy="256032"/>
          </a:xfrm>
          <a:prstGeom prst="rect">
            <a:avLst/>
          </a:prstGeom>
          <a:noFill/>
        </p:spPr>
        <p:txBody>
          <a:bodyPr wrap="square" lIns="0" tIns="0" rIns="0" bIns="0" rtlCol="0" anchor="ctr"/>
          <a:lstStyle/>
          <a:p>
            <a:pPr marL="0" indent="0">
              <a:buNone/>
            </a:pPr>
            <a:r>
              <a:rPr lang="en-US" sz="900" b="1" kern="0" spc="150" dirty="0">
                <a:solidFill>
                  <a:srgbClr val="F47920"/>
                </a:solidFill>
                <a:latin typeface="Calibri" pitchFamily="34" charset="0"/>
                <a:ea typeface="Calibri" pitchFamily="34" charset="-122"/>
                <a:cs typeface="Calibri" pitchFamily="34" charset="-120"/>
              </a:rPr>
              <a:t>CONCLUSION &amp; NEXT STEPS</a:t>
            </a:r>
            <a:endParaRPr lang="en-US" sz="900" dirty="0"/>
          </a:p>
        </p:txBody>
      </p:sp>
      <p:sp>
        <p:nvSpPr>
          <p:cNvPr id="4" name="Text 2"/>
          <p:cNvSpPr/>
          <p:nvPr/>
        </p:nvSpPr>
        <p:spPr>
          <a:xfrm>
            <a:off x="274320" y="438912"/>
            <a:ext cx="8595360" cy="548640"/>
          </a:xfrm>
          <a:prstGeom prst="rect">
            <a:avLst/>
          </a:prstGeom>
          <a:noFill/>
        </p:spPr>
        <p:txBody>
          <a:bodyPr wrap="square" lIns="0" tIns="0" rIns="0" bIns="0" rtlCol="0" anchor="ctr"/>
          <a:lstStyle/>
          <a:p>
            <a:pPr marL="0" indent="0">
              <a:buNone/>
            </a:pPr>
            <a:r>
              <a:rPr lang="en-US" sz="26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Progress Summary &amp; Roadmap</a:t>
            </a:r>
            <a:endParaRPr lang="en-US" sz="2600" dirty="0"/>
          </a:p>
        </p:txBody>
      </p:sp>
      <p:sp>
        <p:nvSpPr>
          <p:cNvPr id="5" name="Shape 3"/>
          <p:cNvSpPr/>
          <p:nvPr/>
        </p:nvSpPr>
        <p:spPr>
          <a:xfrm>
            <a:off x="256032" y="1170432"/>
            <a:ext cx="4005072" cy="3749040"/>
          </a:xfrm>
          <a:prstGeom prst="rect">
            <a:avLst/>
          </a:prstGeom>
          <a:solidFill>
            <a:srgbClr val="1B3A6B"/>
          </a:solidFill>
          <a:ln w="12700">
            <a:solidFill>
              <a:srgbClr val="1B3A6B"/>
            </a:solidFill>
            <a:prstDash val="solid"/>
          </a:ln>
          <a:effectLst>
            <a:outerShdw blurRad="101600" dist="25400" dir="8100000" algn="bl" rotWithShape="0">
              <a:srgbClr val="000000">
                <a:alpha val="13000"/>
              </a:srgbClr>
            </a:outerShdw>
          </a:effectLst>
        </p:spPr>
      </p:sp>
      <p:sp>
        <p:nvSpPr>
          <p:cNvPr id="6" name="Shape 4"/>
          <p:cNvSpPr/>
          <p:nvPr/>
        </p:nvSpPr>
        <p:spPr>
          <a:xfrm>
            <a:off x="256032" y="1170432"/>
            <a:ext cx="4005072" cy="73152"/>
          </a:xfrm>
          <a:prstGeom prst="rect">
            <a:avLst/>
          </a:prstGeom>
          <a:solidFill>
            <a:srgbClr val="16A34A"/>
          </a:solidFill>
          <a:ln w="12700">
            <a:solidFill>
              <a:srgbClr val="16A34A"/>
            </a:solidFill>
            <a:prstDash val="solid"/>
          </a:ln>
        </p:spPr>
      </p:sp>
      <p:sp>
        <p:nvSpPr>
          <p:cNvPr id="7" name="Text 5"/>
          <p:cNvSpPr/>
          <p:nvPr/>
        </p:nvSpPr>
        <p:spPr>
          <a:xfrm>
            <a:off x="393192" y="1307592"/>
            <a:ext cx="3730752" cy="347472"/>
          </a:xfrm>
          <a:prstGeom prst="rect">
            <a:avLst/>
          </a:prstGeom>
          <a:noFill/>
        </p:spPr>
        <p:txBody>
          <a:bodyPr wrap="square" lIns="0" tIns="0" rIns="0" bIns="0"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Completed</a:t>
            </a:r>
            <a:endParaRPr lang="en-US" sz="1400" dirty="0"/>
          </a:p>
        </p:txBody>
      </p:sp>
      <p:sp>
        <p:nvSpPr>
          <p:cNvPr id="8" name="Text 6"/>
          <p:cNvSpPr/>
          <p:nvPr/>
        </p:nvSpPr>
        <p:spPr>
          <a:xfrm>
            <a:off x="393192" y="1737360"/>
            <a:ext cx="3730752" cy="3017520"/>
          </a:xfrm>
          <a:prstGeom prst="rect">
            <a:avLst/>
          </a:prstGeom>
          <a:noFill/>
        </p:spPr>
        <p:txBody>
          <a:bodyPr wrap="square" rtlCol="0" anchor="t"/>
          <a:lstStyle/>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YouTube API pipeline &amp; data extraction</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Mailchimp API pipeline &amp; data extraction</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Azure SQL database schema &amp; ingestion scripts</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Interactive YouTube Power BI dashboard</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Interactive Mailchimp Power BI dashboard</a:t>
            </a:r>
            <a:endParaRPr lang="en-US" sz="1200" dirty="0"/>
          </a:p>
        </p:txBody>
      </p:sp>
      <p:sp>
        <p:nvSpPr>
          <p:cNvPr id="9" name="Shape 7"/>
          <p:cNvSpPr/>
          <p:nvPr/>
        </p:nvSpPr>
        <p:spPr>
          <a:xfrm>
            <a:off x="4882896" y="1170432"/>
            <a:ext cx="4005072" cy="3749040"/>
          </a:xfrm>
          <a:prstGeom prst="rect">
            <a:avLst/>
          </a:prstGeom>
          <a:solidFill>
            <a:srgbClr val="1B3A6B"/>
          </a:solidFill>
          <a:ln w="12700">
            <a:solidFill>
              <a:srgbClr val="1B3A6B"/>
            </a:solidFill>
            <a:prstDash val="solid"/>
          </a:ln>
          <a:effectLst>
            <a:outerShdw blurRad="101600" dist="25400" dir="8100000" algn="bl" rotWithShape="0">
              <a:srgbClr val="000000">
                <a:alpha val="13000"/>
              </a:srgbClr>
            </a:outerShdw>
          </a:effectLst>
        </p:spPr>
      </p:sp>
      <p:sp>
        <p:nvSpPr>
          <p:cNvPr id="10" name="Shape 8"/>
          <p:cNvSpPr/>
          <p:nvPr/>
        </p:nvSpPr>
        <p:spPr>
          <a:xfrm>
            <a:off x="4882896" y="1170432"/>
            <a:ext cx="4005072" cy="73152"/>
          </a:xfrm>
          <a:prstGeom prst="rect">
            <a:avLst/>
          </a:prstGeom>
          <a:solidFill>
            <a:srgbClr val="F47920"/>
          </a:solidFill>
          <a:ln w="12700">
            <a:solidFill>
              <a:srgbClr val="F47920"/>
            </a:solidFill>
            <a:prstDash val="solid"/>
          </a:ln>
        </p:spPr>
      </p:sp>
      <p:sp>
        <p:nvSpPr>
          <p:cNvPr id="11" name="Text 9"/>
          <p:cNvSpPr/>
          <p:nvPr/>
        </p:nvSpPr>
        <p:spPr>
          <a:xfrm>
            <a:off x="5020056" y="1307592"/>
            <a:ext cx="3730752" cy="347472"/>
          </a:xfrm>
          <a:prstGeom prst="rect">
            <a:avLst/>
          </a:prstGeom>
          <a:noFill/>
        </p:spPr>
        <p:txBody>
          <a:bodyPr wrap="square" lIns="0" tIns="0" rIns="0" bIns="0" rtlCol="0" anchor="ctr"/>
          <a:lstStyle/>
          <a:p>
            <a:pPr marL="0" indent="0">
              <a:buNone/>
            </a:pPr>
            <a:r>
              <a:rPr lang="en-US" sz="1400" b="1" dirty="0">
                <a:solidFill>
                  <a:srgbClr val="F47920"/>
                </a:solidFill>
                <a:latin typeface="Calibri" pitchFamily="34" charset="0"/>
                <a:ea typeface="Calibri" pitchFamily="34" charset="-122"/>
                <a:cs typeface="Calibri" pitchFamily="34" charset="-120"/>
              </a:rPr>
              <a:t>Upcoming</a:t>
            </a:r>
            <a:endParaRPr lang="en-US" sz="1400" dirty="0"/>
          </a:p>
        </p:txBody>
      </p:sp>
      <p:sp>
        <p:nvSpPr>
          <p:cNvPr id="12" name="Text 10"/>
          <p:cNvSpPr/>
          <p:nvPr/>
        </p:nvSpPr>
        <p:spPr>
          <a:xfrm>
            <a:off x="5020056" y="1737360"/>
            <a:ext cx="3730752" cy="3017520"/>
          </a:xfrm>
          <a:prstGeom prst="rect">
            <a:avLst/>
          </a:prstGeom>
          <a:noFill/>
        </p:spPr>
        <p:txBody>
          <a:bodyPr wrap="square" rtlCol="0" anchor="t"/>
          <a:lstStyle/>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Facebook: API extraction + Power BI dashboard</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LinkedIn: engagement &amp; follower analytics</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Twitter/X: impressions &amp; reach dashboard</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Dripify: LinkedIn automation metrics</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GA4: website traffic &amp; conversion funnel</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Unified cross-platform combined dashboard</a:t>
            </a:r>
            <a:endParaRPr lang="en-US" sz="1200" dirty="0"/>
          </a:p>
        </p:txBody>
      </p:sp>
      <p:sp>
        <p:nvSpPr>
          <p:cNvPr id="13" name="Shape 11"/>
          <p:cNvSpPr/>
          <p:nvPr/>
        </p:nvSpPr>
        <p:spPr>
          <a:xfrm>
            <a:off x="0" y="5052060"/>
            <a:ext cx="9144000" cy="91440"/>
          </a:xfrm>
          <a:prstGeom prst="rect">
            <a:avLst/>
          </a:prstGeom>
          <a:solidFill>
            <a:srgbClr val="F47920"/>
          </a:solidFill>
          <a:ln w="12700">
            <a:solidFill>
              <a:srgbClr val="F47920"/>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4528</Words>
  <Application>WPS Presentation</Application>
  <PresentationFormat>On-screen Show (16:9)</PresentationFormat>
  <Paragraphs>236</Paragraphs>
  <Slides>10</Slides>
  <Notes>8</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10</vt:i4>
      </vt:variant>
    </vt:vector>
  </HeadingPairs>
  <TitlesOfParts>
    <vt:vector size="28" baseType="lpstr">
      <vt:lpstr>Arial</vt:lpstr>
      <vt:lpstr>SimSun</vt:lpstr>
      <vt:lpstr>Wingdings</vt:lpstr>
      <vt:lpstr>Calibri</vt:lpstr>
      <vt:lpstr>Helvetica Neue</vt:lpstr>
      <vt:lpstr>Calibri</vt:lpstr>
      <vt:lpstr>Calibri</vt:lpstr>
      <vt:lpstr>Arial Black</vt:lpstr>
      <vt:lpstr>Arial Black</vt:lpstr>
      <vt:lpstr>Arial Black</vt:lpstr>
      <vt:lpstr>Microsoft YaHei</vt:lpstr>
      <vt:lpstr>汉仪旗黑</vt:lpstr>
      <vt:lpstr>Arial Unicode MS</vt:lpstr>
      <vt:lpstr>汉仪书宋二KW</vt:lpstr>
      <vt:lpstr>Apple Color Emoji</vt:lpstr>
      <vt:lpstr>Arial</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Kavi Global Multi-Platform Marketing Intelligence</dc:title>
  <dc:creator>PptxGenJS</dc:creator>
  <dc:subject>PptxGenJS Presentation</dc:subject>
  <cp:lastModifiedBy>ainia</cp:lastModifiedBy>
  <cp:revision>5</cp:revision>
  <dcterms:created xsi:type="dcterms:W3CDTF">2026-03-13T20:55:56Z</dcterms:created>
  <dcterms:modified xsi:type="dcterms:W3CDTF">2026-03-13T20:55:56Z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1033-12.1.25195.25195</vt:lpwstr>
  </property>
  <property fmtid="{D5CDD505-2E9C-101B-9397-08002B2CF9AE}" pid="3" name="ICV">
    <vt:lpwstr>1FE092E263EE77BABC5FB46971E061AA_42</vt:lpwstr>
  </property>
</Properties>
</file>